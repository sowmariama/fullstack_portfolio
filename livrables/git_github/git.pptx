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4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661512"/>
            <a:ext cx="2560320" cy="7772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618979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926080" y="2623408"/>
            <a:ext cx="329184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88920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💡 Architecture Git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788920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⌨️ Commandes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788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🌿 Branches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264408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🏷️ Stash &amp; Tags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264408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⚡ Rebase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264408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3264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☁️ Remote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739896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🔄 Workflows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739896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🪝 Hooks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739896"/>
            <a:ext cx="24231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739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✅ Bonnes Pratiques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Formation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2560320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22960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22960"/>
            <a:ext cx="502920" cy="621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229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Pourquoi Git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Problèmes, bénéfices, statistiques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527048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527048"/>
            <a:ext cx="502920" cy="6217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527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Qu'est-ce que Git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Histoire, architecture interne, DAG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231136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231136"/>
            <a:ext cx="502920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311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Installation &amp; Configuration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2560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Multi-OS, config globale &amp; locale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935224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35224"/>
            <a:ext cx="502920" cy="6217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35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Commandes de 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32644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Cycle de vie, init→commit, inspection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639312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639312"/>
            <a:ext cx="502920" cy="62179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39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8408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Fichiers Spéciaux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" y="39684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.gitignore, .gitattributes, .gitkeep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343400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343400"/>
            <a:ext cx="502920" cy="6217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8408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Branches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8408" y="4672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Créer, fusionner, conflits, stratégies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822960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822960"/>
            <a:ext cx="502920" cy="62179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8229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67528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Stash, Tags &amp; Rebase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Travail avancé sur l'historique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1527048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1527048"/>
            <a:ext cx="502920" cy="6217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527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67528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Dépôt Distant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67528" y="18562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GitHub, fetch/pull/push, PR, forks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00600" y="2231136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2231136"/>
            <a:ext cx="502920" cy="6217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2311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67528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Workflows Professionnels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67528" y="2560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GitFlow, GitHub Flow, Trunk-based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00600" y="2935224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00600" y="2935224"/>
            <a:ext cx="502920" cy="621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2935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67528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Hooks &amp; Automatisation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67528" y="32644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pre-commit, CI/CD, linting auto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00600" y="3639312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00600" y="3639312"/>
            <a:ext cx="502920" cy="6217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3639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11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67528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Bonnes Pratiques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67528" y="39684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Commits, messages, sécurité, .env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800600" y="4343400"/>
            <a:ext cx="416052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800600" y="4343400"/>
            <a:ext cx="502920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4343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12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67528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Références &amp; Démo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367528" y="46725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Sources, fil rouge complet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5752"/>
            <a:ext cx="475488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5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5057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Git ? — Le contexte industriel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4392"/>
            <a:ext cx="4645152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8424" y="1187440"/>
            <a:ext cx="196596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98424" y="12240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0883E"/>
                </a:solidFill>
              </a:rPr>
              <a:t>180M+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98424" y="17269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des devs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utilisent Git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7264" y="1187440"/>
            <a:ext cx="196596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7264" y="12240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58A6FF"/>
                </a:solidFill>
              </a:rPr>
              <a:t>630M</a:t>
            </a:r>
            <a:r>
              <a:rPr lang="en-US" sz="2800" b="1" dirty="0">
                <a:solidFill>
                  <a:srgbClr val="58A6FF"/>
                </a:solidFill>
              </a:rPr>
              <a:t>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7264" y="17269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dépôts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GitHub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96104" y="1187440"/>
            <a:ext cx="196596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6104" y="12240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</a:rPr>
              <a:t>2005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96104" y="17269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Créé par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Linus Torvalds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70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</a:rPr>
              <a:t>Sans contrôle de version — Le chaos quotidien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90584"/>
            <a:ext cx="41148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636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📁 Enfer des noms de fichiers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892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rapport_v1.docx, rapport_FINAL.docx,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rapport_FINAL_vrai.docx, rapport_VRAI_FINAL2.docx…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590584"/>
            <a:ext cx="41148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636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💥 Écrasement accidentel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892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Bob écrase le travail de Alice en copiant son fichier, sans moyen de récupérer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459264"/>
            <a:ext cx="41148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50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🤔 Impossible de savoir qui a fait quoi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61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Aucune trace des modifications, aucun responsable identifiable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459264"/>
            <a:ext cx="41148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50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⏳ Pas de retour arrière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761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Un bug introduit ? On ne sait pas quand, ni comment revenir en arrière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391952"/>
            <a:ext cx="82296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91952"/>
            <a:ext cx="50292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391952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F0F6FC"/>
                </a:solidFill>
              </a:rPr>
              <a:t>Solution </a:t>
            </a:r>
            <a:r>
              <a:rPr lang="en-US" sz="900" dirty="0">
                <a:solidFill>
                  <a:srgbClr val="F0F6FC"/>
                </a:solidFill>
              </a:rPr>
              <a:t>: Git enregistre CHAQUE modification avec auteur, date, message et contexte — comme </a:t>
            </a:r>
            <a:r>
              <a:rPr lang="en-US" sz="900" dirty="0" err="1">
                <a:solidFill>
                  <a:srgbClr val="F0F6FC"/>
                </a:solidFill>
              </a:rPr>
              <a:t>une</a:t>
            </a:r>
            <a:r>
              <a:rPr lang="en-US" sz="900" dirty="0">
                <a:solidFill>
                  <a:srgbClr val="F0F6FC"/>
                </a:solidFill>
              </a:rPr>
              <a:t> machine à remonter le temps pour votre code.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Interne de Git — Comment ça marche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742432" cy="411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Les 4 objets fondamentaux de Git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1965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1965960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BLOB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Contenu d'un fichier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(sans nom)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a1b2c3…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1115568"/>
            <a:ext cx="1965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115568"/>
            <a:ext cx="1965960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919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Répertoire : liste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de blobs et de trees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d4e5f6…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1965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15568"/>
            <a:ext cx="196596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COMMIT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Snapshot avec auteur,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date, message, parent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03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sha1: 7g8h9i…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1115568"/>
            <a:ext cx="196596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115568"/>
            <a:ext cx="1965960" cy="3200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115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TAG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76872" y="14630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Pointeur nommé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sur un commit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76872" y="1938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v1.0.0 → sha1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Les 3 zones de Git 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724912"/>
            <a:ext cx="2560320" cy="182880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724912"/>
            <a:ext cx="2560320" cy="3840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Working Directory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(Répertoire de travail)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Vos fichiers tels 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vous les éditez.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Statut : modifié / non tracé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35808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git add →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46120" y="2724912"/>
            <a:ext cx="2560320" cy="182880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724912"/>
            <a:ext cx="2560320" cy="3840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Staging Area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(Index / Cache)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Zone intermédiaire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sélectionnez précisément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ce qui ira dans le commit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24728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git commit →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35040" y="2724912"/>
            <a:ext cx="2560320" cy="182880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724912"/>
            <a:ext cx="256032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272491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Repository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(.git/objects)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31455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Base de données Git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tous les commits,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l'historique complet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Tous systèmes d'exploitation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084064" cy="411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2578608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04672"/>
            <a:ext cx="2578608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0D1117"/>
                </a:solidFill>
              </a:rPr>
              <a:t> </a:t>
            </a:r>
            <a:r>
              <a:rPr lang="en-US" sz="1000" b="1" dirty="0">
                <a:solidFill>
                  <a:srgbClr val="0D1117"/>
                </a:solidFill>
              </a:rPr>
              <a:t>Linux (Debian/Ubuntu)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&amp;&amp; sudo apt install git -y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git  # Fedora/RHEL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pacman -S git    # Arch Linux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804672"/>
            <a:ext cx="2578608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04672"/>
            <a:ext cx="2578608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0D1117"/>
                </a:solidFill>
              </a:rPr>
              <a:t> </a:t>
            </a:r>
            <a:r>
              <a:rPr lang="en-US" sz="1000" b="1" dirty="0">
                <a:solidFill>
                  <a:srgbClr val="0D1117"/>
                </a:solidFill>
              </a:rPr>
              <a:t>macOS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git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via Xcode Command Line Tools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xcode-select --install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804672"/>
            <a:ext cx="2578608" cy="1463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804672"/>
            <a:ext cx="2578608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804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0D1117"/>
                </a:solidFill>
              </a:rPr>
              <a:t> </a:t>
            </a:r>
            <a:r>
              <a:rPr lang="en-US" sz="1000" b="1" dirty="0">
                <a:solidFill>
                  <a:srgbClr val="0D1117"/>
                </a:solidFill>
              </a:rPr>
              <a:t>Windows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1612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1 : Installeur officiel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14813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git-scm.com/download/win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2 : via winget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1214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Git.Git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359152"/>
            <a:ext cx="4114800" cy="676656"/>
          </a:xfrm>
          <a:prstGeom prst="rect">
            <a:avLst/>
          </a:prstGeom>
          <a:solidFill>
            <a:srgbClr val="010409"/>
          </a:solidFill>
          <a:ln w="635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359152"/>
            <a:ext cx="411480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423160"/>
            <a:ext cx="118872" cy="1188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2423160"/>
            <a:ext cx="118872" cy="118872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2423160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651760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2843784"/>
            <a:ext cx="3913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2.47.0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035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Configuration indispensable (à faire </a:t>
            </a:r>
            <a:r>
              <a:rPr lang="en-US" sz="1200" b="1" dirty="0" err="1">
                <a:solidFill>
                  <a:srgbClr val="3FB950"/>
                </a:solidFill>
              </a:rPr>
              <a:t>une</a:t>
            </a:r>
            <a:r>
              <a:rPr lang="en-US" sz="1200" b="1" dirty="0">
                <a:solidFill>
                  <a:srgbClr val="3FB950"/>
                </a:solidFill>
              </a:rPr>
              <a:t> seule fois) 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364992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</a:rPr>
              <a:t>Identité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"Prénom Nom"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"moi@email.com"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337560" y="3364992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2900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Éditeur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VS Code comme éditeur par défaut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3364992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9360" y="34015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B341"/>
                </a:solidFill>
              </a:rPr>
              <a:t>Branche par défaut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6210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Recommandé depuis 2020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169664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</a:rPr>
              <a:t>Fin de ligne (OS)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core.autocrlf input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Linux/Mac: input | Windows: true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37560" y="4169664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42900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</a:rPr>
              <a:t>Alias pratiques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2900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alias.st status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alias.lg "log --oneline --graph"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17920" y="4169664"/>
            <a:ext cx="269748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0936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</a:rPr>
              <a:t>Voir toute la config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44256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04a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d'un fichier dans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</a:rPr>
              <a:t>Untracked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</a:rPr>
              <a:t>(Non suivi)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188720"/>
            <a:ext cx="2011680" cy="82296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</a:rPr>
              <a:t>Staged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</a:rPr>
              <a:t>(En attente)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188720"/>
            <a:ext cx="2011680" cy="82296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</a:rPr>
              <a:t>Committed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</a:rPr>
              <a:t>(Validé)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743200"/>
            <a:ext cx="2011680" cy="82296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883E"/>
                </a:solidFill>
              </a:rPr>
              <a:t>Modified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883E"/>
                </a:solidFill>
              </a:rPr>
              <a:t>(Modifié)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572768"/>
            <a:ext cx="41148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68296" y="1332153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B341"/>
                </a:solidFill>
              </a:rPr>
              <a:t>git add ─────────►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83480" y="1572768"/>
            <a:ext cx="4114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7056" y="13395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B950"/>
                </a:solidFill>
              </a:rPr>
              <a:t>git commit ───►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3090672"/>
            <a:ext cx="1993392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949E"/>
                </a:solidFill>
              </a:rPr>
              <a:t>git restore / rm --cached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35224" y="2048256"/>
            <a:ext cx="54864" cy="6858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377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3B341"/>
                </a:solidFill>
              </a:rPr>
              <a:t>git add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0" y="2048256"/>
            <a:ext cx="54864" cy="6858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0883E"/>
                </a:solidFill>
              </a:rPr>
              <a:t>édition du fichier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Commandes essentielles du cycle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77640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397764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73452" y="397764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Initialiser un nouveau dépôt (crée .git/)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36168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61688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436168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73452" y="436168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Ajouter au staging (par fichier ou . pour tout)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74573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45736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474573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73452" y="474573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Ajout interactif : choisir des morceaux (hunks)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97764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977640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397764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62572" y="397764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un commit avec message en ligne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436168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361688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436168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62572" y="436168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Add + commit en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commande (fichiers suivis)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74573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4745736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74573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62572" y="474573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Statut court (M=modifié, A=ajouté, ?=non suivi)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04b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Inspecter, Annuler &amp; Revenir en arrière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Inspection de l'historique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097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73452" y="1097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Historique détaillé (auteur, date, message, hash)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48132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481328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481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73452" y="1481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Une ligne par commit (hash court + message)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6537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865376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1865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73452" y="1865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Graphe ASCII de toutes les branches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942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249424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2249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73452" y="2249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Historique avec les diffs de chaque commit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33472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26334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--author="Alice"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73452" y="26334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Filtrer par auteur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109728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097280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1097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--since="2 weeks ago"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62572" y="1097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Filtrer par date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148132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481328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1481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62572" y="1481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Détails complets d'un commit spécifique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186537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1865376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1865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62572" y="1865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Modifications non stagées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24942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249424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249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62572" y="2249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Modifications stagées (avant commit)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2633472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633472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263347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main..feature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62572" y="263347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Différences entre deux branches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Annuler &amp; Corriger 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38328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383280"/>
            <a:ext cx="50292" cy="3383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" y="3383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&lt;f&gt;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473452" y="3383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modifs d'un fichier (non stagé)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76732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3767328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3767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&lt;f&gt;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473452" y="3767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Désindexer (enlever du staging)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15137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151376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" y="4151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473452" y="4151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Modifier le DERNIER commit (message/contenu)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453542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4535424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" y="4535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473452" y="4535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dernier commit, garde staging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338328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3383280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46904" y="338328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--mixed HEAD~1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62572" y="338328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commit + staging, garde fichiers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376732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3767328"/>
            <a:ext cx="50292" cy="3383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46904" y="376732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862572" y="376732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⚠️  Supprime le commit ET les modifications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46320" y="415137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151376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46904" y="415137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&lt;hash&gt;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62572" y="415137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 un NOUVEAU commit qui annule &lt;hash&gt;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46320" y="453542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535424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46904" y="453542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HEAD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62572" y="453542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le dernier commit (sûr pour remote)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.gitignore, .gitattributes &amp; Fichiers Spéciaux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13248" cy="4114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9C0FF"/>
                </a:solidFill>
              </a:rPr>
              <a:t>Le fichier .gitignore — Exclure des fichiers du suivi Git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4160520" cy="3063240"/>
          </a:xfrm>
          <a:prstGeom prst="rect">
            <a:avLst/>
          </a:prstGeom>
          <a:solidFill>
            <a:srgbClr val="010409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416052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</a:rPr>
              <a:t>📄 .gitignore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444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Commentaire : Environnement Python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16230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1801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*.py[cod]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19796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Fichiers d'environnement (SECRETS !)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3362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2514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26929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dépendances Node.js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30495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3227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 &amp; 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34061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" y="37627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82494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C0FF"/>
                </a:solidFill>
              </a:rPr>
              <a:t>Règles de syntaxe .gitignore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144986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12372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112372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Joker : ignore tous les fichiers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1529034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50777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150777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Ignore tous les .log peu importe le dossier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1913082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89181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189181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Ignore seulement build/ à la racine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2297130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27586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227586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Ignore TOUT dossier nommé build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2681178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65991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!important.log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0" y="265991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Exception : ne PAS ignorer ce fichier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3065226"/>
            <a:ext cx="411480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04396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doc/**/*.pdf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04396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Ignore tous les PDF dans doc/ récursivement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50413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C0FF"/>
                </a:solidFill>
              </a:rPr>
              <a:t>Autres fichiers spéciaux 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805890"/>
            <a:ext cx="411480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784626"/>
            <a:ext cx="50292" cy="2194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378462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.gitattributes — Normaliser fins de ligne, diff binaires, exports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4061922"/>
            <a:ext cx="411480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4040658"/>
            <a:ext cx="50292" cy="2194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0328" y="404065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.gitkeep — Tracker un dossier vide (Git ne suit pas les dossiers vides)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317954"/>
            <a:ext cx="411480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4296690"/>
            <a:ext cx="50292" cy="2194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429669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README.md — Documentation du projet (affichée sur GitHub)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4573986"/>
            <a:ext cx="411480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4552722"/>
            <a:ext cx="50292" cy="2194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0328" y="455272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.github/ — Workflows CI, PR templates, issue templates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41605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206240"/>
            <a:ext cx="50292" cy="3474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4206240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💡 Global : git config --global core.excludesfile ~/.gitignore_global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Ignorer les fichiers IDE pour TOUS vos projets.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5994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8A6FF"/>
                </a:solidFill>
              </a:rPr>
              <a:t>gitignore.io — Générer un .gitignore adapté à votre stack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55373"/>
            <a:ext cx="475488" cy="47548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5537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06a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555373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Branches — Concept &amp; Commandes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04013"/>
            <a:ext cx="4096512" cy="411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117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</a:rPr>
              <a:t>Principe des branches — chaque branche = un pointeur léger vers un commit 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191939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Commandes de branches 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211999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211999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2211999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73452" y="2211999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Lister branches locales (* = courante)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596047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596047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2596047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73452" y="2596047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Lister branches locales ET distantes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2980095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980095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980095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&lt;nom&gt;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473452" y="2980095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branche (sans y aller)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364143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364143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364143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&lt;nom&gt;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73452" y="3364143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ET basculer (syntaxe moderne)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748191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748191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" y="3748191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&lt;nom&gt;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473452" y="3748191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ET basculer (syntaxe classique)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2211999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2211999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2211999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&lt;nom&gt;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62572" y="2211999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Basculer sur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branche existante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46320" y="2596047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2596047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6904" y="2596047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&lt;old&gt; &lt;new&gt;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62572" y="2596047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Renommer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branche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2980095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6320" y="2980095"/>
            <a:ext cx="50292" cy="3383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46904" y="2980095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862572" y="2980095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Supprimer (si fusionnée)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3364143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46320" y="3364143"/>
            <a:ext cx="50292" cy="33832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46904" y="3364143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62572" y="3364143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Supprimer de force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846320" y="3748191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46320" y="3748191"/>
            <a:ext cx="50292" cy="3383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46904" y="3748191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--merged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62572" y="3748191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Voir branches déjà fusionnées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06b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(Merge) &amp; Résolution de Conflits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645152" cy="411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Les 3 types de merge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578608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578608" cy="3200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Fast-Forward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La branche cible n'a pas avancé.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Git déplace simplement le pointeur.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Historique linéaire.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239572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FB950"/>
                </a:solidFill>
              </a:rPr>
              <a:t>→ Rapide, propre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115568"/>
            <a:ext cx="2578608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15568"/>
            <a:ext cx="2578608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3-Way Merge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Deux branches ont divergé.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Git crée un COMMIT de fusion.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Historique non-linéaire.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2286000"/>
            <a:ext cx="239572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8A6FF"/>
                </a:solidFill>
              </a:rPr>
              <a:t>→ Recommandé équipe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115568"/>
            <a:ext cx="2578608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15568"/>
            <a:ext cx="2578608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11556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Squash Merge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Tous les commits de la branche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sont compressés en UN seul commit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avant fusion.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2395728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0883E"/>
                </a:solidFill>
              </a:rPr>
              <a:t>→ Pour PR nettes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715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Résolution de conflits — étape par étape 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99232"/>
            <a:ext cx="4114800" cy="1737360"/>
          </a:xfrm>
          <a:prstGeom prst="rect">
            <a:avLst/>
          </a:prstGeom>
          <a:solidFill>
            <a:srgbClr val="010409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999232"/>
            <a:ext cx="411480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99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📄 notes.txt — CONFLIT DÉTECTÉ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(votre branche)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34701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Bonjour, je suis sur main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3648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8267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Salut, je suis sur feature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40050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feature/auth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" y="41833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" y="4361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Choisir, combiner, puis 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45399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Supprimer les marqueurs &lt;&lt;&lt; === &gt;&gt;&gt;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274406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Étapes de résolution 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8382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3036670"/>
            <a:ext cx="182880" cy="18288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0366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83480" y="301838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&lt;branche&gt;  →  conflit détecté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265270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6592" y="3283558"/>
            <a:ext cx="182880" cy="1828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2835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83480" y="326527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→  voir fichiers en conflit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3512158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36592" y="3530446"/>
            <a:ext cx="182880" cy="18288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35304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83480" y="351215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Ouvrir le fichier, éditer manuellement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3759046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36592" y="3777334"/>
            <a:ext cx="182880" cy="18288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7773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983480" y="375904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 les marqueurs &lt;&lt;&lt; === &gt;&gt;&gt;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09160" y="4005934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6592" y="4024222"/>
            <a:ext cx="182880" cy="1828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40242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83480" y="400593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&lt;fichier&gt;  →  marquer résolu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09160" y="4252822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4271110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42711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983480" y="425282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 →  finaliser la fusion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09160" y="4499710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36592" y="4517998"/>
            <a:ext cx="182880" cy="1828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45179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</a:rPr>
              <a:t>★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983480" y="449971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: boutons Accept Current/Incoming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8536"/>
            <a:ext cx="475488" cy="47548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07a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32853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Stash &amp; Git Tag — Fonctionnalités avancées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77176"/>
            <a:ext cx="5413248" cy="4114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14336"/>
            <a:ext cx="4160520" cy="3200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14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🗃️  GIT STASH — Mise en suspens temporaire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61808"/>
            <a:ext cx="416052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61808"/>
            <a:ext cx="50292" cy="4572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361808"/>
            <a:ext cx="399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Le stash = </a:t>
            </a:r>
            <a:r>
              <a:rPr lang="en-US" sz="900" dirty="0" err="1">
                <a:solidFill>
                  <a:srgbClr val="F0F6FC"/>
                </a:solidFill>
              </a:rPr>
              <a:t>une</a:t>
            </a:r>
            <a:r>
              <a:rPr lang="en-US" sz="900" dirty="0">
                <a:solidFill>
                  <a:srgbClr val="F0F6FC"/>
                </a:solidFill>
              </a:rPr>
              <a:t> "pile" pour sauvegarder des modifications en cours sans les committer. Utile quand vous devez changer de contexte rapidement (urgence, revue de code, etc.)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55584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55584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855584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95855" y="1855584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Empile les modifs (WD + staging)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203056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03056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2203056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push -m "msg"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95855" y="2203056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Stash avec un message descriptif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550528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50528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2550528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list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95855" y="2550528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Afficher tous les stashs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898000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98000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2898000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95855" y="2898000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Appliquer le dernier stash (le supprime)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245472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45472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" y="3245472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apply stash@{2}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95855" y="3245472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Appliquer un stash précis (le garde)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592944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592944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3592944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drop stash@{0}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95855" y="3592944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Supprimer un stash de la pile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940416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940416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3940416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clear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495855" y="3940416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Vider TOUTE la pile de stash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87888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87888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" y="4287888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branch &lt;nom&gt;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495855" y="4287888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branche depuis un stash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1014336"/>
            <a:ext cx="4114800" cy="3200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10143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🏷️  GIT TAG — Marquer des versions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1361808"/>
            <a:ext cx="41148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1361808"/>
            <a:ext cx="50292" cy="4572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136180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Les tags = des jalons permanents dans l'historique. Utilisés pour marquer les versions de production (v1.0.0, v2.3.1) selon le standard SemVer.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855584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1855584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1184" y="1855584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16852" y="1855584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Lister tous les tags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2203056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2203056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01184" y="2203056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v1.0.0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16852" y="2203056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Créer un tag léger sur HEAD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00600" y="2550528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2550528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01184" y="2550528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v1.0.0 -m "msg"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16852" y="255052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Tag annoté (recommandé) avec message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2898000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2898000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01184" y="2898000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v1.0.0 &lt;hash&gt;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16852" y="2898000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Taguer un commit passé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00600" y="3245472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00600" y="3245472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01184" y="3245472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v1.0.0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16852" y="3245472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Pousser un tag vers le remote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00600" y="3592944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3592944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01184" y="3592944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--tags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816852" y="3592944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Pousser TOUS les tags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00600" y="3940416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00600" y="3940416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01184" y="3940416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-d v1.0.0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16852" y="3940416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Supprimer un tag local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800600" y="4287888"/>
            <a:ext cx="411480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4287888"/>
            <a:ext cx="50292" cy="3017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01184" y="4287888"/>
            <a:ext cx="19339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:refs/tags/v1.0.0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816852" y="4287888"/>
            <a:ext cx="20162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Supprimer un tag distant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0568"/>
            <a:ext cx="475488" cy="47548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0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07b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05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Rebase &amp; Cherry-Pick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799208"/>
            <a:ext cx="2999232" cy="4114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36368"/>
            <a:ext cx="4206240" cy="29260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363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REBASE — Réécrire l'historique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256408"/>
            <a:ext cx="42062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56408"/>
            <a:ext cx="50292" cy="5029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56408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Rebase = rejoue les commits de votre branche SUR le bout d'une autre branche.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Résultat : historique linéaire et propre (vs merge qui crée un commit de fusion).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05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Avant rebase 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51936"/>
            <a:ext cx="420624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06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A─B─C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307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    └─D─E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194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Après rebase feature sur main 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66336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21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A─B─C─D'─E'   (linéaire !)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23536"/>
            <a:ext cx="420624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23536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423536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8258" y="3423536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Rebaser la branche courante sur main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771008"/>
            <a:ext cx="420624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71008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3771008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 HEAD~3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8258" y="3771008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Rebase interactif : réordonner, squash…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118480"/>
            <a:ext cx="420624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18480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4118480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18258" y="4118480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en cours de rebase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465952"/>
            <a:ext cx="420624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65952"/>
            <a:ext cx="50292" cy="3017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4465952"/>
            <a:ext cx="19769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18258" y="4465952"/>
            <a:ext cx="20610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Continuer après résolution de conflit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936368"/>
            <a:ext cx="4160520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936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CHERRY-PICK — Sélectionner un commit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1256408"/>
            <a:ext cx="416052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256408"/>
            <a:ext cx="50292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1256408"/>
            <a:ext cx="3995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Cherry-pick = appliquer UN commit spécifique (par son hash) sur la branche courante, sans merger toute </a:t>
            </a:r>
            <a:r>
              <a:rPr lang="en-US" sz="900" dirty="0" err="1">
                <a:solidFill>
                  <a:srgbClr val="F0F6FC"/>
                </a:solidFill>
              </a:rPr>
              <a:t>une</a:t>
            </a:r>
            <a:r>
              <a:rPr lang="en-US" sz="900" dirty="0">
                <a:solidFill>
                  <a:srgbClr val="F0F6FC"/>
                </a:solidFill>
              </a:rPr>
              <a:t> branche.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18233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</a:rPr>
              <a:t>Cas d'usage 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207936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C"/>
                </a:solidFill>
              </a:rPr>
              <a:t> </a:t>
            </a:r>
            <a:r>
              <a:rPr lang="en-US" sz="900" dirty="0">
                <a:solidFill>
                  <a:srgbClr val="F0F6FC"/>
                </a:solidFill>
              </a:rPr>
              <a:t>Corriger un bug en production sans merger toute la feature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235368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C"/>
                </a:solidFill>
              </a:rPr>
              <a:t> </a:t>
            </a:r>
            <a:r>
              <a:rPr lang="en-US" sz="900" dirty="0">
                <a:solidFill>
                  <a:srgbClr val="F0F6FC"/>
                </a:solidFill>
              </a:rPr>
              <a:t>Backporter un fix sur </a:t>
            </a:r>
            <a:r>
              <a:rPr lang="en-US" sz="900" dirty="0" err="1">
                <a:solidFill>
                  <a:srgbClr val="F0F6FC"/>
                </a:solidFill>
              </a:rPr>
              <a:t>une</a:t>
            </a:r>
            <a:r>
              <a:rPr lang="en-US" sz="900" dirty="0">
                <a:solidFill>
                  <a:srgbClr val="F0F6FC"/>
                </a:solidFill>
              </a:rPr>
              <a:t> ancienne version (v1.x, v2.x)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26280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C"/>
                </a:solidFill>
              </a:rPr>
              <a:t> </a:t>
            </a:r>
            <a:r>
              <a:rPr lang="en-US" sz="900" dirty="0">
                <a:solidFill>
                  <a:srgbClr val="F0F6FC"/>
                </a:solidFill>
              </a:rPr>
              <a:t>Récupérer un seul commit utile d'une branche abandonnée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011841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011841"/>
            <a:ext cx="50292" cy="3017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3011841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&lt;hash&gt;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93535" y="3011841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Appliquer un commit sur la branche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3359313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3359313"/>
            <a:ext cx="50292" cy="3017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3359313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A..B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93535" y="3359313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Appliquer la plage de commits A à 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54880" y="3706785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3706785"/>
            <a:ext cx="50292" cy="3017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55464" y="3706785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-n &lt;hash&gt;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93535" y="3706785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Appliquer sans committer (staging only)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54880" y="4054257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4054257"/>
            <a:ext cx="50292" cy="3017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5464" y="4054257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--abort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793535" y="4054257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Annuler le cherry-pick en cours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54880" y="4401729"/>
            <a:ext cx="4160520" cy="301752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4401729"/>
            <a:ext cx="50292" cy="3017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55464" y="4401729"/>
            <a:ext cx="19554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--continue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93535" y="4401729"/>
            <a:ext cx="203865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Continuer après résolution conflit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3096"/>
            <a:ext cx="475488" cy="47548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3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08a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930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Distant — Remote, Push, Pull, Fetch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841736"/>
            <a:ext cx="4864608" cy="411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788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Plateformes d'hébergement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53216"/>
            <a:ext cx="196596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F0F6F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53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573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La plus populaire (Microsoft), open source, CI/CD, Copilot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253216"/>
            <a:ext cx="196596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253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883E"/>
                </a:solidFill>
              </a:rPr>
              <a:t>GitLab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1573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DevOps intégré, CI/CD natif, auto-hébergeable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253216"/>
            <a:ext cx="196596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253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</a:rPr>
              <a:t>Bitbucket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573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Intégration Atlassian (Jira, Confluence)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53216"/>
            <a:ext cx="196596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253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Gitea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76872" y="1573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Légère, open source, self-hosted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1859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Commandes distantes 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6936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469368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246936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73452" y="246936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Cloner un dépôt (HTTPS ou SSH)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85341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853416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" y="285341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 &lt;dossier&gt;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73452" y="285341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Cloner dans un dossier spécifique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3746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37464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" y="323746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73452" y="323746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Lier le dépôt local à un remote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621512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21512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362151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73452" y="362151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Lister les remotes avec leurs URL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00556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005560"/>
            <a:ext cx="50292" cy="3383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" y="400556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rename origin upstream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73452" y="400556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Renommer un remote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38960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389608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" y="438960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473452" y="438960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Pousser la branche main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246936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469368"/>
            <a:ext cx="50292" cy="3383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46936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62572" y="246936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Push + définir upstream (1ère fois)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2853416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2853416"/>
            <a:ext cx="50292" cy="3383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46904" y="2853416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--force-with-lease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62572" y="2853416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Force push sécurisé (vérifie état remote)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237464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237464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46904" y="3237464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62572" y="3237464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Récupérer les infos (sans merger)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46320" y="3621512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6320" y="3621512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46904" y="3621512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--all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62572" y="3621512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Récupérer depuis tous les remotes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4005560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005560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46904" y="4005560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62572" y="4005560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Fetch + merge (ou rebase si configuré)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4389608"/>
            <a:ext cx="4114800" cy="33832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46320" y="4389608"/>
            <a:ext cx="50292" cy="33832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46904" y="4389608"/>
            <a:ext cx="19339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--rebase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62572" y="4389608"/>
            <a:ext cx="20162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Fetch + rebase (historique linéaire)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0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08b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Forks &amp; Collaboration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315968" cy="411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Workflow d'une Pull Request (PR)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1078992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Fork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Copier le dépôt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dans votre compte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54480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00784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00784" y="1115568"/>
            <a:ext cx="1078992" cy="3291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Clone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46504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Cloner votre fork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en local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98064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44368" y="1115568"/>
            <a:ext cx="1078992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Branch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0088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git checkout -b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feature/ma-feature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41648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87952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87952" y="1115568"/>
            <a:ext cx="1078992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33672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Coder, commit,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push vers votre fork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5232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31536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31536" y="1115568"/>
            <a:ext cx="1078992" cy="32918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Ouvrir </a:t>
            </a:r>
            <a:r>
              <a:rPr lang="en-US" sz="800" dirty="0" err="1">
                <a:solidFill>
                  <a:srgbClr val="F0F6FC"/>
                </a:solidFill>
              </a:rPr>
              <a:t>une</a:t>
            </a:r>
            <a:r>
              <a:rPr lang="en-US" sz="800" dirty="0">
                <a:solidFill>
                  <a:srgbClr val="F0F6FC"/>
                </a:solidFill>
              </a:rPr>
              <a:t> PR sur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GitHub/GitLab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28816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0" y="1115568"/>
            <a:ext cx="1078992" cy="32918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Équipe relit, commente,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demande modifs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14173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18704" y="1115568"/>
            <a:ext cx="1078992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18704" y="1115568"/>
            <a:ext cx="1078992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8704" y="111556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Merge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64424" y="1463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Validation → merge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0F6FC"/>
                </a:solidFill>
              </a:rPr>
              <a:t>dans la branche cible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Anatomie d'une bonne PR 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468880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46888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📝 Titre clair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920240" y="2468880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Résume le changement en </a:t>
            </a:r>
            <a:r>
              <a:rPr lang="en-US" sz="800" dirty="0" err="1">
                <a:solidFill>
                  <a:srgbClr val="8B949E"/>
                </a:solidFill>
              </a:rPr>
              <a:t>une</a:t>
            </a:r>
            <a:r>
              <a:rPr lang="en-US" sz="800" dirty="0">
                <a:solidFill>
                  <a:srgbClr val="8B949E"/>
                </a:solidFill>
              </a:rPr>
              <a:t> ligne (verbe d'action)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852928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85292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📄 Description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20240" y="2852928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Contexte, pourquoi ce changement, comment tester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3236976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23697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🔗 Lien issues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920240" y="3236976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Closes #42 — ferme automatiquement l'issue au merge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3621024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2102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🖼️  Screenshots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920240" y="3621024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Avant/après pour les changements UI/UX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005072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00507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✅ Checklist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920240" y="4005072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Tests passent, docs mises à jour, linting OK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389120"/>
            <a:ext cx="4160520" cy="33832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38912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</a:rPr>
              <a:t>👤 Reviewers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920240" y="4389120"/>
            <a:ext cx="2633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Assigner les bonnes personnes pour la revue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80060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</a:rPr>
              <a:t>Bonnes pratiques de Code Review :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2468880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66360" y="246888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Réviser le code, pas la personne — rester constructif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00600" y="2816352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66360" y="28163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Garder les PR petites (&lt; 400 lignes de préférence)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00600" y="3163824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66360" y="3163824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Répondre rapidement (&lt; 24h) pour ne pas bloquer l'équipe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00600" y="3511296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66360" y="3511296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Poser des questions plutôt qu'imposer des solutions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00600" y="3858768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3858768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Féliciter le bon code — le feedback positif compte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00600" y="4206240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66360" y="4206240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Demander des itérations si nécessaire, ne pas merger trop vite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00600" y="4553712"/>
            <a:ext cx="4114800" cy="301752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66360" y="455371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6FC"/>
                </a:solidFill>
              </a:rPr>
              <a:t>Toujours vérifier que les tests passent avant le merge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Professionnels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3438144" cy="4114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04672"/>
            <a:ext cx="2715768" cy="4224528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2715768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Git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</a:rPr>
              <a:t>Branches 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main — Production uniquement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develop — Intégration continue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feature/* — Nouvelles fonctionnalités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1122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release/* — Préparation de version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350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hotfix/* — Corrections urgentes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3FB950"/>
                </a:solidFill>
              </a:rPr>
              <a:t>Avantages </a:t>
            </a:r>
            <a:r>
              <a:rPr lang="en-US" sz="850" b="1" dirty="0">
                <a:solidFill>
                  <a:srgbClr val="3FB950"/>
                </a:solidFill>
              </a:rPr>
              <a:t>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0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Adapté aux releases planifiées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" y="30998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Isolation parfaite des features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5488" y="33192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Standard pour logiciels versionnés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F85149"/>
                </a:solidFill>
              </a:rPr>
              <a:t> </a:t>
            </a:r>
            <a:r>
              <a:rPr lang="en-US" sz="850" b="1" dirty="0">
                <a:solidFill>
                  <a:srgbClr val="F85149"/>
                </a:solidFill>
              </a:rPr>
              <a:t>Limites 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7581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Complexe (5 types de branches)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Lent pour du déploiement continu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2542032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smtClean="0">
                <a:solidFill>
                  <a:srgbClr val="58A6FF"/>
                </a:solidFill>
              </a:rPr>
              <a:t>Pour </a:t>
            </a:r>
            <a:r>
              <a:rPr lang="en-US" sz="750" i="1" dirty="0">
                <a:solidFill>
                  <a:srgbClr val="58A6FF"/>
                </a:solidFill>
              </a:rPr>
              <a:t>: Librairies, apps avec versions numérotées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73552" y="804672"/>
            <a:ext cx="2715768" cy="422452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804672"/>
            <a:ext cx="2715768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GitHub Flow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64992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</a:rPr>
              <a:t>Branches 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main — Toujours déployable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feature/&lt;nom&gt; — Une branche par feature/fix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(pas de develop ni de release)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4992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3FB950"/>
                </a:solidFill>
              </a:rPr>
              <a:t>Avantages </a:t>
            </a:r>
            <a:r>
              <a:rPr lang="en-US" sz="850" b="1" dirty="0">
                <a:solidFill>
                  <a:srgbClr val="3FB950"/>
                </a:solidFill>
              </a:rPr>
              <a:t>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2404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Simple, rapide à apprendre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8328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Idéal pour CI/CD et déploiement continu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83280" y="28437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PR systématique → code review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64992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F85149"/>
                </a:solidFill>
              </a:rPr>
              <a:t>Limites </a:t>
            </a:r>
            <a:r>
              <a:rPr lang="en-US" sz="850" b="1" dirty="0">
                <a:solidFill>
                  <a:srgbClr val="F85149"/>
                </a:solidFill>
              </a:rPr>
              <a:t>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3282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Moins adapté aux versions multiples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83280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Nécessite </a:t>
            </a:r>
            <a:r>
              <a:rPr lang="en-US" sz="750" dirty="0" err="1">
                <a:solidFill>
                  <a:srgbClr val="8B949E"/>
                </a:solidFill>
              </a:rPr>
              <a:t>une</a:t>
            </a:r>
            <a:r>
              <a:rPr lang="en-US" sz="750" dirty="0">
                <a:solidFill>
                  <a:srgbClr val="8B949E"/>
                </a:solidFill>
              </a:rPr>
              <a:t> bonne couverture de tests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64992" y="4736592"/>
            <a:ext cx="2542032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smtClean="0">
                <a:solidFill>
                  <a:srgbClr val="3FB950"/>
                </a:solidFill>
              </a:rPr>
              <a:t> </a:t>
            </a:r>
            <a:r>
              <a:rPr lang="en-US" sz="750" i="1" dirty="0">
                <a:solidFill>
                  <a:srgbClr val="3FB950"/>
                </a:solidFill>
              </a:rPr>
              <a:t>Pour : SaaS, apps web, déploiements fréquents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81344" y="804672"/>
            <a:ext cx="2715768" cy="4224528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81344" y="804672"/>
            <a:ext cx="2715768" cy="3474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804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Trunk-Based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72784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</a:rPr>
              <a:t>Branches 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91072" y="1399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main (trunk) — Branche unique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91072" y="1636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feature flags — Cacher le code non prêt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91072" y="18745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6FC"/>
                </a:solidFill>
              </a:rPr>
              <a:t>• short-lived branches — &lt; 2 jours de vie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72784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3FB950"/>
                </a:solidFill>
              </a:rPr>
              <a:t>Avantages </a:t>
            </a:r>
            <a:r>
              <a:rPr lang="en-US" sz="850" b="1" dirty="0">
                <a:solidFill>
                  <a:srgbClr val="3FB950"/>
                </a:solidFill>
              </a:rPr>
              <a:t>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91072" y="2404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Intégration continue maximale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91072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Pas de merge hell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91072" y="28437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Adopté par Google, Facebook, Netflix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72784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smtClean="0">
                <a:solidFill>
                  <a:srgbClr val="F85149"/>
                </a:solidFill>
              </a:rPr>
              <a:t> </a:t>
            </a:r>
            <a:r>
              <a:rPr lang="en-US" sz="850" b="1" dirty="0">
                <a:solidFill>
                  <a:srgbClr val="F85149"/>
                </a:solidFill>
              </a:rPr>
              <a:t>Limites 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91072" y="3282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Nécessite feature flags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91072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</a:rPr>
              <a:t>• Discipline d'équipe très élevée requise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72784" y="4736592"/>
            <a:ext cx="2542032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18504" y="473659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smtClean="0">
                <a:solidFill>
                  <a:srgbClr val="F0883E"/>
                </a:solidFill>
              </a:rPr>
              <a:t>Pour </a:t>
            </a:r>
            <a:r>
              <a:rPr lang="en-US" sz="750" i="1" dirty="0">
                <a:solidFill>
                  <a:srgbClr val="F0883E"/>
                </a:solidFill>
              </a:rPr>
              <a:t>: Grandes équipes, DevOps mature, Google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Hooks — Automatisation &amp; CI/CD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845820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50292" cy="4114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822960"/>
            <a:ext cx="8293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Les hooks Git = scripts automatiquement exécutés lors d'événements Git (commit, push, merge…). Situés dans .git/hooks/ — ils permettent d'automatiser le linting, les tests, le formatage, etc.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</a:rPr>
              <a:t>Hooks côté CLIENT 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7276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157276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95855" y="157276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Avant chaque commit : linting, formatage, tests unitaires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3852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193852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prepare-commit-msg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95855" y="193852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Préremplir le message de commit (template, ticket)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0428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0428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230428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commit-msg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95855" y="230428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Valider le format du message (Conventional Commits)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7004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267004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post-commit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95855" y="267004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Notification après commit (Slack, log, etc.)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03580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3580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303580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95855" y="303580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Avant push : tests, sécurité, build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0156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0156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340156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post-merge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95855" y="340156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Après merge : npm install, migrations DB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41605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67328"/>
            <a:ext cx="50292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3767328"/>
            <a:ext cx="1955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pre-rebase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95855" y="3767328"/>
            <a:ext cx="203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Empêcher le rebase de branches protégées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12984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Hooks côté SERVEUR 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1572768"/>
            <a:ext cx="411480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1572768"/>
            <a:ext cx="50292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157276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pre-receive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6852" y="157276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Valider les pushes entrants (permissions, taille)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1938528"/>
            <a:ext cx="411480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1938528"/>
            <a:ext cx="50292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193852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6852" y="193852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Valider par branche avant accept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2304288"/>
            <a:ext cx="411480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2304288"/>
            <a:ext cx="50292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1184" y="230428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post-receive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6852" y="230428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Déclencher déploiement, notify CI/CD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2670048"/>
            <a:ext cx="411480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2670048"/>
            <a:ext cx="50292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01184" y="2670048"/>
            <a:ext cx="1933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post-update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16852" y="2670048"/>
            <a:ext cx="201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Mise à jour de l'index du serveur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00600" y="31272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Exemple pratique — pre-commit avec Husky (Node.js) :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3401568"/>
            <a:ext cx="4114800" cy="1664208"/>
          </a:xfrm>
          <a:prstGeom prst="rect">
            <a:avLst/>
          </a:prstGeom>
          <a:solidFill>
            <a:srgbClr val="010409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910328" y="3456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--save-dev husky lint-staged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10328" y="36347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husky init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910328" y="3813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.husky/pre-commit :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910328" y="39913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lint-staged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910328" y="41696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package.json 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0328" y="43479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"lint-staged": {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910328" y="4526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"*.js": ["eslint --fix", "git add"]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910328" y="47045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"*.{css,scss}": ["prettier --write"]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910328" y="4882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82346" y="3305764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</a:rPr>
              <a:t>Conventional Commits — Standard de messages :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367588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3675888"/>
            <a:ext cx="50292" cy="1554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" y="367588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495855" y="367588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Nouvelle fonctionnalité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385876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3858768"/>
            <a:ext cx="50292" cy="1554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" y="385876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495855" y="385876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Correction de bug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04164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041648"/>
            <a:ext cx="50292" cy="1554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7784" y="404164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495855" y="404164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Documentation uniquement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57200" y="422452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4224528"/>
            <a:ext cx="50292" cy="15544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" y="422452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495855" y="422452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Formatage (pas de logique)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7200" y="440740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7200" y="4407408"/>
            <a:ext cx="50292" cy="15544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7784" y="440740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2495855" y="440740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Refactorisation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59028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590288"/>
            <a:ext cx="50292" cy="1554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7784" y="459028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495855" y="459028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Ajout/modification de tests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" y="477316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7200" y="4773168"/>
            <a:ext cx="50292" cy="15544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7784" y="477316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2495855" y="477316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Tâches de maintenance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57200" y="4956048"/>
            <a:ext cx="4160520" cy="155448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" y="4956048"/>
            <a:ext cx="50292" cy="1554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7784" y="4956048"/>
            <a:ext cx="19554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BREAKING CHANGE: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495855" y="4956048"/>
            <a:ext cx="203865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Changement cassant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Git — Sécurité &amp; Productivité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5413248" cy="411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58A6FF"/>
                </a:solidFill>
              </a:rPr>
              <a:t>Rédiger </a:t>
            </a:r>
            <a:r>
              <a:rPr lang="en-US" sz="1100" b="1" dirty="0">
                <a:solidFill>
                  <a:srgbClr val="58A6FF"/>
                </a:solidFill>
              </a:rPr>
              <a:t>de bons messages de commit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60520" cy="1600200"/>
          </a:xfrm>
          <a:prstGeom prst="rect">
            <a:avLst/>
          </a:prstGeom>
          <a:solidFill>
            <a:srgbClr val="010409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15214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smtClean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 </a:t>
            </a:r>
            <a:r>
              <a:rPr lang="en-US" sz="7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de commit 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29844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feat(auth): ajouter authentification JWT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" y="144475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59105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Implémenter la génération de tokens JWT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173736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Ajouter middleware de validation côté API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8836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Configurer l'expiration à 24h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20299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Fixes #127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17627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6928" y="232257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smtClean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MAUVAIS </a:t>
            </a:r>
            <a:r>
              <a:rPr lang="en-US" sz="7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46888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stuff / update / wip / ok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4114800" cy="548640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133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58A6FF"/>
                </a:solidFill>
              </a:rPr>
              <a:t>Une </a:t>
            </a:r>
            <a:r>
              <a:rPr lang="en-US" sz="1000" b="1" dirty="0">
                <a:solidFill>
                  <a:srgbClr val="58A6FF"/>
                </a:solidFill>
              </a:rPr>
              <a:t>chose par commit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Ne mélanger pas les fonctionnalités. Un commit = un sujet précis.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719072"/>
            <a:ext cx="4114800" cy="548640"/>
          </a:xfrm>
          <a:prstGeom prst="rect">
            <a:avLst/>
          </a:prstGeom>
          <a:solidFill>
            <a:srgbClr val="21262D"/>
          </a:solidFill>
          <a:ln w="1016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E3B341"/>
                </a:solidFill>
              </a:rPr>
              <a:t>50/72 </a:t>
            </a:r>
            <a:r>
              <a:rPr lang="en-US" sz="1000" b="1" dirty="0">
                <a:solidFill>
                  <a:srgbClr val="E3B341"/>
                </a:solidFill>
              </a:rPr>
              <a:t>regel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Titre ≤ 50 car. Corps ≤ 72 car/ligne. Ligne vide entre les deux.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340864"/>
            <a:ext cx="4114800" cy="548640"/>
          </a:xfrm>
          <a:prstGeom prst="rect">
            <a:avLst/>
          </a:prstGeom>
          <a:solidFill>
            <a:srgbClr val="21262D"/>
          </a:solidFill>
          <a:ln w="1016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 smtClean="0">
                <a:solidFill>
                  <a:srgbClr val="3FB950"/>
                </a:solidFill>
              </a:rPr>
              <a:t>Verbe</a:t>
            </a:r>
            <a:r>
              <a:rPr lang="en-US" sz="1000" b="1" dirty="0" smtClean="0">
                <a:solidFill>
                  <a:srgbClr val="3FB950"/>
                </a:solidFill>
              </a:rPr>
              <a:t> </a:t>
            </a:r>
            <a:r>
              <a:rPr lang="en-US" sz="1000" b="1" dirty="0">
                <a:solidFill>
                  <a:srgbClr val="3FB950"/>
                </a:solidFill>
              </a:rPr>
              <a:t>impératif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151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"Ajouter…" et non "J'ai ajouté…" ou "Ajout de…"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962656"/>
            <a:ext cx="4114800" cy="548640"/>
          </a:xfrm>
          <a:prstGeom prst="rect">
            <a:avLst/>
          </a:prstGeom>
          <a:solidFill>
            <a:srgbClr val="21262D"/>
          </a:solidFill>
          <a:ln w="1016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🔒 Jamais de secrets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236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Fichiers .env, mots de passe, clés API → JAMAIS dans Git !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27889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 smtClean="0">
                <a:solidFill>
                  <a:srgbClr val="F85149"/>
                </a:solidFill>
              </a:rPr>
              <a:t>Sécurité</a:t>
            </a:r>
            <a:r>
              <a:rPr lang="en-US" sz="1100" b="1" dirty="0" smtClean="0">
                <a:solidFill>
                  <a:srgbClr val="F85149"/>
                </a:solidFill>
              </a:rPr>
              <a:t> </a:t>
            </a:r>
            <a:r>
              <a:rPr lang="en-US" sz="1100" b="1" dirty="0">
                <a:solidFill>
                  <a:srgbClr val="F85149"/>
                </a:solidFill>
              </a:rPr>
              <a:t>— Ce qu'il ne faut JAMAIS committer 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4023360" cy="338328"/>
          </a:xfrm>
          <a:prstGeom prst="rect">
            <a:avLst/>
          </a:prstGeom>
          <a:solidFill>
            <a:srgbClr val="1C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632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.env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59152" y="30632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Variables d'environnement et secrets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447288"/>
            <a:ext cx="4023360" cy="338328"/>
          </a:xfrm>
          <a:prstGeom prst="rect">
            <a:avLst/>
          </a:prstGeom>
          <a:solidFill>
            <a:srgbClr val="1C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4728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*.pem / *.key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59152" y="3447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Clés privées SSL/TLS, certificats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63240"/>
            <a:ext cx="4023360" cy="338328"/>
          </a:xfrm>
          <a:prstGeom prst="rect">
            <a:avLst/>
          </a:prstGeom>
          <a:solidFill>
            <a:srgbClr val="1C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632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config/*.yml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11112" y="30632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Config avec mots de passe en clair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447288"/>
            <a:ext cx="4023360" cy="338328"/>
          </a:xfrm>
          <a:prstGeom prst="rect">
            <a:avLst/>
          </a:prstGeom>
          <a:solidFill>
            <a:srgbClr val="1C0A0A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44728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id_rsa / id_ed25519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11112" y="3447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Clés SSH privées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3858768"/>
            <a:ext cx="84582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3858768"/>
            <a:ext cx="50292" cy="3657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3858768"/>
            <a:ext cx="8293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</a:rPr>
              <a:t>Si un secret a été commité : git filter-branch ou BFG Repo-Cleaner + rotation immédiate des credentials ! Ne jamais considérer un secret committé comme sûr.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3159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3FB950"/>
                </a:solidFill>
              </a:rPr>
              <a:t>Tips </a:t>
            </a:r>
            <a:r>
              <a:rPr lang="en-US" sz="1100" b="1" dirty="0">
                <a:solidFill>
                  <a:srgbClr val="3FB950"/>
                </a:solidFill>
              </a:rPr>
              <a:t>de productivité 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590288"/>
            <a:ext cx="4114800" cy="22860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590288"/>
            <a:ext cx="50292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" y="4590288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bisect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473452" y="4590288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Trouver quel commit a introduit un bug par dichotomie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846320"/>
            <a:ext cx="50292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" y="4846320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&lt;f&gt;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473452" y="4846320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Voir qui a écrit chaque ligne d'un fichier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4590288"/>
            <a:ext cx="4114800" cy="22860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4590288"/>
            <a:ext cx="50292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46904" y="4590288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shortlog -sn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62572" y="4590288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Statistiques de contributions par auteur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46320" y="4846320"/>
            <a:ext cx="4114800" cy="228600"/>
          </a:xfrm>
          <a:prstGeom prst="rect">
            <a:avLst/>
          </a:prstGeom>
          <a:solidFill>
            <a:srgbClr val="21262D"/>
          </a:solidFill>
          <a:ln w="6350">
            <a:solidFill>
              <a:srgbClr val="161B2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46320" y="4846320"/>
            <a:ext cx="50292" cy="228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46904" y="4846320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862572" y="4846320"/>
            <a:ext cx="2016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Historique de TOUTES vos actions Git (filet de sécurité)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12a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de Qualité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096512" cy="4114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16052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04672"/>
            <a:ext cx="4160520" cy="3200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D1117"/>
                </a:solidFill>
              </a:rPr>
              <a:t> </a:t>
            </a:r>
            <a:r>
              <a:rPr lang="en-US" sz="1100" b="1" dirty="0">
                <a:solidFill>
                  <a:srgbClr val="0D1117"/>
                </a:solidFill>
              </a:rPr>
              <a:t>Documentation Officielle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</a:rPr>
              <a:t>Pro Git Book (fr)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git-scm.com/book/fr/v2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36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Référence absolue, gratuite en ligne, couvre tout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</a:rPr>
              <a:t>Git Reference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git-scm.com/docs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Documentation complète de chaque commande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</a:rPr>
              <a:t>GitHub Docs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docs.github.com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Guide complet sur GitHub, PR, Actions CI/CD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804672"/>
            <a:ext cx="416052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04672"/>
            <a:ext cx="416052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D1117"/>
                </a:solidFill>
              </a:rPr>
              <a:t> </a:t>
            </a:r>
            <a:r>
              <a:rPr lang="en-US" sz="1100" b="1" dirty="0">
                <a:solidFill>
                  <a:srgbClr val="0D1117"/>
                </a:solidFill>
              </a:rPr>
              <a:t>Apprentissage Interactif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170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</a:rPr>
              <a:t>Learn Git Branching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3716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learngitbranching.js.org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0" y="1536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Exercices visuels sur les branches — EXCELLENT pour débuter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719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</a:rPr>
              <a:t>Oh My Git!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19202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ohmygit.org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20848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Jeu d'apprentissage Git open source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</a:rPr>
              <a:t>Katacoda Git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4688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katacoda.com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26334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Scénarios interactifs en ligne (terminal dans le navigateur)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00300" y="2971800"/>
            <a:ext cx="416052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00300" y="2971800"/>
            <a:ext cx="4160520" cy="3200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73452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 smtClean="0">
                <a:solidFill>
                  <a:srgbClr val="0D1117"/>
                </a:solidFill>
              </a:rPr>
              <a:t>Outils</a:t>
            </a:r>
            <a:r>
              <a:rPr lang="en-US" sz="1100" b="1" dirty="0" smtClean="0">
                <a:solidFill>
                  <a:srgbClr val="0D1117"/>
                </a:solidFill>
              </a:rPr>
              <a:t> </a:t>
            </a:r>
            <a:r>
              <a:rPr lang="en-US" sz="1100" b="1" dirty="0">
                <a:solidFill>
                  <a:srgbClr val="0D1117"/>
                </a:solidFill>
              </a:rPr>
              <a:t>Recommandés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491740" y="3337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8CFF"/>
                </a:solidFill>
              </a:rPr>
              <a:t>GitKraken / SourceTree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91740" y="35387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gitkraken.com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91740" y="37033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Interface graphique Git professionnelle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91740" y="3886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8CFF"/>
                </a:solidFill>
              </a:rPr>
              <a:t>gitignore.io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91740" y="40873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gitignore.io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491740" y="42519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Générer des .gitignore sur mesure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91740" y="44348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8CFF"/>
                </a:solidFill>
              </a:rPr>
              <a:t>Conventional Commits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491740" y="46360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8A6FF"/>
                </a:solidFill>
              </a:rPr>
              <a:t>conventionalcommits.org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491740" y="48006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Standard de messages de commit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Aide-Mémoire — Cheat Sheet Complet Git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4535424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0467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27889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13385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8308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Créer un dépôt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146304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8308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Cloner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79222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8308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Configurer nom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80467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804672"/>
            <a:ext cx="27889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Staging &amp; Commit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113385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État court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37560" y="146304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916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Tout stager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37560" y="179222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916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Committer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37560" y="2121408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121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9160" y="21214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Modifier dernier commit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37560" y="2450592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450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9160" y="2450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Ajout interactif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17920" y="80467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804672"/>
            <a:ext cx="27889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Branches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113385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635240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Lister toutes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263640" y="146304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&lt;nom&gt;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35240" y="14630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Créer+basculer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263640" y="179222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792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&lt;branche&gt;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63524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Fusionner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263640" y="2121408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121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635240" y="21214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Rebaser sur main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63640" y="2450592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2450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&lt;nom&gt;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635240" y="245059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Supprimer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290779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2907792"/>
            <a:ext cx="27889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Historique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323697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78308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Graphe compact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" y="356616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78308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Voir staging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1480" y="389534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78308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Détails commit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11480" y="4224528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&lt;fichier&gt;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78308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Voir auteur par ligne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11480" y="4553712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78308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Historique actions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291840" y="290779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291840" y="2907792"/>
            <a:ext cx="27889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6499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Annuler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337560" y="323697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8328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&lt;f&gt;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70916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Annuler modifs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337560" y="356616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8328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70916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Défaire commit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337560" y="389534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8328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&lt;hash&gt;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70916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Inverser commit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337560" y="4224528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8328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70916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Mettre de côté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337560" y="4553712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&lt;h&gt;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470916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Appliquer un commit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217920" y="2907792"/>
            <a:ext cx="2788920" cy="196596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217920" y="2907792"/>
            <a:ext cx="2788920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91072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Remote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6263640" y="3236976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0936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635240" y="32369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Pousser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263640" y="3566160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--rebase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635240" y="3566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Tirer+rebaser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263640" y="3895344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09360" y="3895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--all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635240" y="38953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Récupérer tout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263640" y="4224528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09360" y="4224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7635240" y="422452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Lister remotes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263640" y="4553712"/>
            <a:ext cx="2697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09360" y="4553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v1.0 -m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635240" y="45537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</a:rPr>
              <a:t>Créer tag annoté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84048"/>
            <a:ext cx="2743200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3840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F6FC"/>
                </a:solidFill>
              </a:rPr>
              <a:t>Vous maîtrisez maintenant Git !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Architecture &amp; 3 zones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Working Dir → Staging → Repository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Commandes complètes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init, add, commit, diff, log, reset, revert, amend…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Branches avancées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Créer, fusionner, rebaser, cherry-pick, résoudre conflits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2532888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Stash &amp; Tags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Mise en suspens, versionnage SemVer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36976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Remote &amp; Collaboration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GitHub, push/pull, PR, forks, code review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236976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Workflows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GitFlow, GitHub Flow, Trunk-Based Development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941064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Hooks &amp; Automatisation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pre-commit, Husky, Conventional Commits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3941064"/>
            <a:ext cx="4251960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Bonnes Pratiques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4242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Sécurité, messages, productivité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883E"/>
                </a:solidFill>
              </a:rPr>
              <a:t>"Le code qui n'est pas versionné est du code perdu."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3529</Words>
  <Application>Microsoft Office PowerPoint</Application>
  <PresentationFormat>Affichage à l'écran (16:9)</PresentationFormat>
  <Paragraphs>751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Formation Complète &amp; Approfondie</dc:title>
  <dc:subject>PptxGenJS Presentation</dc:subject>
  <dc:creator>PptxGenJS</dc:creator>
  <cp:lastModifiedBy>Windows User</cp:lastModifiedBy>
  <cp:revision>7</cp:revision>
  <dcterms:created xsi:type="dcterms:W3CDTF">2026-03-11T15:52:47Z</dcterms:created>
  <dcterms:modified xsi:type="dcterms:W3CDTF">2026-03-12T22:02:50Z</dcterms:modified>
</cp:coreProperties>
</file>