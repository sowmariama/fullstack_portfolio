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4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" name="Text 3"/>
          <p:cNvSpPr/>
          <p:nvPr/>
        </p:nvSpPr>
        <p:spPr>
          <a:xfrm>
            <a:off x="3291840" y="548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F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Complète &amp; Approfondie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D2C00"/>
                </a:solidFill>
              </a:rPr>
              <a:t>Du débutant au développeur professionnel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3291840" cy="36576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2423160" cy="402336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💡 Architecture Git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2788920"/>
            <a:ext cx="2423160" cy="402336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2" name="Text 10"/>
          <p:cNvSpPr/>
          <p:nvPr/>
        </p:nvSpPr>
        <p:spPr>
          <a:xfrm>
            <a:off x="3383280" y="27889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⌨️ Commandes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2788920"/>
            <a:ext cx="2423160" cy="402336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4" name="Text 12"/>
          <p:cNvSpPr/>
          <p:nvPr/>
        </p:nvSpPr>
        <p:spPr>
          <a:xfrm>
            <a:off x="6035040" y="27889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🌿 Branches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264408"/>
            <a:ext cx="2423160" cy="402336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6" name="Text 14"/>
          <p:cNvSpPr/>
          <p:nvPr/>
        </p:nvSpPr>
        <p:spPr>
          <a:xfrm>
            <a:off x="731520" y="32644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🏷️ Stash &amp; Tags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3264408"/>
            <a:ext cx="2423160" cy="402336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8" name="Text 16"/>
          <p:cNvSpPr/>
          <p:nvPr/>
        </p:nvSpPr>
        <p:spPr>
          <a:xfrm>
            <a:off x="3383280" y="32644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⚡ Rebase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3264408"/>
            <a:ext cx="2423160" cy="402336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0" name="Text 18"/>
          <p:cNvSpPr/>
          <p:nvPr/>
        </p:nvSpPr>
        <p:spPr>
          <a:xfrm>
            <a:off x="6035040" y="32644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☁️ Remote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739896"/>
            <a:ext cx="2423160" cy="402336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2" name="Text 20"/>
          <p:cNvSpPr/>
          <p:nvPr/>
        </p:nvSpPr>
        <p:spPr>
          <a:xfrm>
            <a:off x="731520" y="37398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🔄 Workflows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3739896"/>
            <a:ext cx="2423160" cy="402336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4" name="Text 22"/>
          <p:cNvSpPr/>
          <p:nvPr/>
        </p:nvSpPr>
        <p:spPr>
          <a:xfrm>
            <a:off x="3383280" y="37398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🪝 Hooks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3739896"/>
            <a:ext cx="2423160" cy="402336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6" name="Text 24"/>
          <p:cNvSpPr/>
          <p:nvPr/>
        </p:nvSpPr>
        <p:spPr>
          <a:xfrm>
            <a:off x="6035040" y="37398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✅ Bonnes Pratiques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20+ slides • Commandes avancées • Démo fil rouge</a:t>
            </a:r>
            <a:endParaRPr lang="en-US" sz="950" dirty="0"/>
          </a:p>
        </p:txBody>
      </p:sp>
      <p:pic>
        <p:nvPicPr>
          <p:cNvPr id="1028" name="Picture 4" descr="Git - Logo Downloads">
            <a:extLst>
              <a:ext uri="{FF2B5EF4-FFF2-40B4-BE49-F238E27FC236}">
                <a16:creationId xmlns:a16="http://schemas.microsoft.com/office/drawing/2014/main" id="{3B1DD42A-61D3-A5B9-2F62-A761479D1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998" y="139446"/>
            <a:ext cx="15240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Formation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2560320" cy="4114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9" name="Shape 7"/>
          <p:cNvSpPr/>
          <p:nvPr/>
        </p:nvSpPr>
        <p:spPr>
          <a:xfrm>
            <a:off x="411480" y="822960"/>
            <a:ext cx="502920" cy="6217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" name="Text 8"/>
          <p:cNvSpPr/>
          <p:nvPr/>
        </p:nvSpPr>
        <p:spPr>
          <a:xfrm>
            <a:off x="411480" y="8229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859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Pourquoi Git 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11521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Problèmes, bénéfices, statistiques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1527048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4" name="Shape 12"/>
          <p:cNvSpPr/>
          <p:nvPr/>
        </p:nvSpPr>
        <p:spPr>
          <a:xfrm>
            <a:off x="411480" y="1527048"/>
            <a:ext cx="502920" cy="6217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5" name="Text 13"/>
          <p:cNvSpPr/>
          <p:nvPr/>
        </p:nvSpPr>
        <p:spPr>
          <a:xfrm>
            <a:off x="411480" y="15270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15636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Qu'est-ce que Git 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18562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Histoire, architecture interne, DAG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231136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9" name="Shape 17"/>
          <p:cNvSpPr/>
          <p:nvPr/>
        </p:nvSpPr>
        <p:spPr>
          <a:xfrm>
            <a:off x="411480" y="2231136"/>
            <a:ext cx="502920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0" name="Text 18"/>
          <p:cNvSpPr/>
          <p:nvPr/>
        </p:nvSpPr>
        <p:spPr>
          <a:xfrm>
            <a:off x="411480" y="223113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8408" y="2267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Installation &amp; Configuration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8408" y="25603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Multi-OS, config globale &amp; locale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2935224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C8971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4" name="Shape 22"/>
          <p:cNvSpPr/>
          <p:nvPr/>
        </p:nvSpPr>
        <p:spPr>
          <a:xfrm>
            <a:off x="411480" y="2935224"/>
            <a:ext cx="502920" cy="621792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5" name="Text 23"/>
          <p:cNvSpPr/>
          <p:nvPr/>
        </p:nvSpPr>
        <p:spPr>
          <a:xfrm>
            <a:off x="411480" y="29352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" y="2971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Commandes de 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326440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Cycle de vie, init→commit, inspection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639312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3A8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9" name="Shape 27"/>
          <p:cNvSpPr/>
          <p:nvPr/>
        </p:nvSpPr>
        <p:spPr>
          <a:xfrm>
            <a:off x="411480" y="3639312"/>
            <a:ext cx="502920" cy="621792"/>
          </a:xfrm>
          <a:prstGeom prst="rect">
            <a:avLst/>
          </a:prstGeom>
          <a:solidFill>
            <a:srgbClr val="3A8FDB"/>
          </a:solidFill>
          <a:ln w="12700">
            <a:solidFill>
              <a:srgbClr val="3A8FDB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0" name="Text 28"/>
          <p:cNvSpPr/>
          <p:nvPr/>
        </p:nvSpPr>
        <p:spPr>
          <a:xfrm>
            <a:off x="411480" y="36393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8408" y="3675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Fichiers Spéciaux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" y="39684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.gitignore, .gitattributes, .gitkeep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4343400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7B4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4" name="Shape 32"/>
          <p:cNvSpPr/>
          <p:nvPr/>
        </p:nvSpPr>
        <p:spPr>
          <a:xfrm>
            <a:off x="411480" y="4343400"/>
            <a:ext cx="502920" cy="621792"/>
          </a:xfrm>
          <a:prstGeom prst="rect">
            <a:avLst/>
          </a:prstGeom>
          <a:solidFill>
            <a:srgbClr val="7B4EA6"/>
          </a:solidFill>
          <a:ln w="12700">
            <a:solidFill>
              <a:srgbClr val="7B4EA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5" name="Text 33"/>
          <p:cNvSpPr/>
          <p:nvPr/>
        </p:nvSpPr>
        <p:spPr>
          <a:xfrm>
            <a:off x="411480" y="43434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8408" y="43799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Branches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8408" y="4672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Créer, fusionner, conflits, stratégies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822960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E05A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9" name="Shape 37"/>
          <p:cNvSpPr/>
          <p:nvPr/>
        </p:nvSpPr>
        <p:spPr>
          <a:xfrm>
            <a:off x="4800600" y="822960"/>
            <a:ext cx="502920" cy="62179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0" name="Text 38"/>
          <p:cNvSpPr/>
          <p:nvPr/>
        </p:nvSpPr>
        <p:spPr>
          <a:xfrm>
            <a:off x="4800600" y="8229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67528" y="859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Stash, Tags &amp; Rebase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67528" y="11521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Travail avancé sur l'historique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00600" y="1527048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CC3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44" name="Shape 42"/>
          <p:cNvSpPr/>
          <p:nvPr/>
        </p:nvSpPr>
        <p:spPr>
          <a:xfrm>
            <a:off x="4800600" y="1527048"/>
            <a:ext cx="502920" cy="621792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5" name="Text 43"/>
          <p:cNvSpPr/>
          <p:nvPr/>
        </p:nvSpPr>
        <p:spPr>
          <a:xfrm>
            <a:off x="4800600" y="15270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08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67528" y="15636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Dépôt Distant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67528" y="18562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GitHub, fetch/pull/push, PR, forks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00600" y="2231136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49" name="Shape 47"/>
          <p:cNvSpPr/>
          <p:nvPr/>
        </p:nvSpPr>
        <p:spPr>
          <a:xfrm>
            <a:off x="4800600" y="2231136"/>
            <a:ext cx="502920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0" name="Text 48"/>
          <p:cNvSpPr/>
          <p:nvPr/>
        </p:nvSpPr>
        <p:spPr>
          <a:xfrm>
            <a:off x="4800600" y="223113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09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67528" y="2267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Workflows Professionnels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67528" y="25603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GitFlow, GitHub Flow, Trunk-based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00600" y="2935224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54" name="Shape 52"/>
          <p:cNvSpPr/>
          <p:nvPr/>
        </p:nvSpPr>
        <p:spPr>
          <a:xfrm>
            <a:off x="4800600" y="2935224"/>
            <a:ext cx="502920" cy="6217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5" name="Text 53"/>
          <p:cNvSpPr/>
          <p:nvPr/>
        </p:nvSpPr>
        <p:spPr>
          <a:xfrm>
            <a:off x="4800600" y="29352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10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367528" y="2971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Hooks &amp; Automatisation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67528" y="326440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pre-commit, CI/CD, linting auto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00600" y="3639312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59" name="Shape 57"/>
          <p:cNvSpPr/>
          <p:nvPr/>
        </p:nvSpPr>
        <p:spPr>
          <a:xfrm>
            <a:off x="4800600" y="3639312"/>
            <a:ext cx="502920" cy="6217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0" name="Text 58"/>
          <p:cNvSpPr/>
          <p:nvPr/>
        </p:nvSpPr>
        <p:spPr>
          <a:xfrm>
            <a:off x="4800600" y="36393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11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367528" y="3675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Bonnes Pratiques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367528" y="39684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Commits, messages, sécurité, .env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800600" y="4343400"/>
            <a:ext cx="4160520" cy="621792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64" name="Shape 62"/>
          <p:cNvSpPr/>
          <p:nvPr/>
        </p:nvSpPr>
        <p:spPr>
          <a:xfrm>
            <a:off x="4800600" y="4343400"/>
            <a:ext cx="502920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5" name="Text 63"/>
          <p:cNvSpPr/>
          <p:nvPr/>
        </p:nvSpPr>
        <p:spPr>
          <a:xfrm>
            <a:off x="4800600" y="43434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12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367528" y="43799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Références &amp; Démo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367528" y="4672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Sources, fil rouge complet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Git ? — Le contexte industriel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645152" cy="4114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Shape 6"/>
          <p:cNvSpPr/>
          <p:nvPr/>
        </p:nvSpPr>
        <p:spPr>
          <a:xfrm>
            <a:off x="457200" y="804672"/>
            <a:ext cx="1965960" cy="1005840"/>
          </a:xfrm>
          <a:prstGeom prst="rect">
            <a:avLst/>
          </a:prstGeom>
          <a:solidFill>
            <a:srgbClr val="E8E2DC"/>
          </a:solidFill>
          <a:ln w="1270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9" name="Text 7"/>
          <p:cNvSpPr/>
          <p:nvPr/>
        </p:nvSpPr>
        <p:spPr>
          <a:xfrm>
            <a:off x="457200" y="841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D2C00"/>
                </a:solidFill>
              </a:rPr>
              <a:t>98%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3441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des devs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utilisent Git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804672"/>
            <a:ext cx="1965960" cy="1005840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2" name="Text 10"/>
          <p:cNvSpPr/>
          <p:nvPr/>
        </p:nvSpPr>
        <p:spPr>
          <a:xfrm>
            <a:off x="2606040" y="841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6CC"/>
                </a:solidFill>
              </a:rPr>
              <a:t>94M+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13441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dépôts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GitHub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804672"/>
            <a:ext cx="1965960" cy="1005840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5" name="Text 13"/>
          <p:cNvSpPr/>
          <p:nvPr/>
        </p:nvSpPr>
        <p:spPr>
          <a:xfrm>
            <a:off x="4754880" y="841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50"/>
                </a:solidFill>
              </a:rPr>
              <a:t>2005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13441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Créé par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Linus Torvalds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804672"/>
            <a:ext cx="1965960" cy="1005840"/>
          </a:xfrm>
          <a:prstGeom prst="rect">
            <a:avLst/>
          </a:prstGeom>
          <a:solidFill>
            <a:srgbClr val="E8E2DC"/>
          </a:solidFill>
          <a:ln w="12700">
            <a:solidFill>
              <a:srgbClr val="7B4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8" name="Text 16"/>
          <p:cNvSpPr/>
          <p:nvPr/>
        </p:nvSpPr>
        <p:spPr>
          <a:xfrm>
            <a:off x="6903720" y="841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4EA6"/>
                </a:solidFill>
              </a:rPr>
              <a:t>56M+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13441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développeurs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sur GitHub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1901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00"/>
                </a:solidFill>
              </a:rPr>
              <a:t>Sans contrôle de version — Le chaos quotidien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221992"/>
            <a:ext cx="4114800" cy="749808"/>
          </a:xfrm>
          <a:prstGeom prst="rect">
            <a:avLst/>
          </a:prstGeom>
          <a:solidFill>
            <a:srgbClr val="E8E2DC"/>
          </a:solidFill>
          <a:ln w="6350">
            <a:solidFill>
              <a:srgbClr val="CC3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2" name="Text 20"/>
          <p:cNvSpPr/>
          <p:nvPr/>
        </p:nvSpPr>
        <p:spPr>
          <a:xfrm>
            <a:off x="548640" y="2267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3300"/>
                </a:solidFill>
              </a:rPr>
              <a:t>📁 Enfer des noms de fichiers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25237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rapport_v1.docx, rapport_FINAL.docx,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rapport_FINAL_vrai.docx, rapport_VRAI_FINAL2.docx…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2221992"/>
            <a:ext cx="4114800" cy="749808"/>
          </a:xfrm>
          <a:prstGeom prst="rect">
            <a:avLst/>
          </a:prstGeom>
          <a:solidFill>
            <a:srgbClr val="E8E2DC"/>
          </a:solidFill>
          <a:ln w="6350">
            <a:solidFill>
              <a:srgbClr val="CC3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5" name="Text 23"/>
          <p:cNvSpPr/>
          <p:nvPr/>
        </p:nvSpPr>
        <p:spPr>
          <a:xfrm>
            <a:off x="4937760" y="2267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3300"/>
                </a:solidFill>
              </a:rPr>
              <a:t>💥 Écrasement accidentel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5237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Bob écrase le travail de Alice en copiant son fichier, sans moyen de récupérer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090672"/>
            <a:ext cx="4114800" cy="749808"/>
          </a:xfrm>
          <a:prstGeom prst="rect">
            <a:avLst/>
          </a:prstGeom>
          <a:solidFill>
            <a:srgbClr val="E8E2DC"/>
          </a:solidFill>
          <a:ln w="6350">
            <a:solidFill>
              <a:srgbClr val="CC3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8" name="Text 26"/>
          <p:cNvSpPr/>
          <p:nvPr/>
        </p:nvSpPr>
        <p:spPr>
          <a:xfrm>
            <a:off x="548640" y="3136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3300"/>
                </a:solidFill>
              </a:rPr>
              <a:t>🤔 Impossible de savoir qui a fait quoi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3924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Aucune trace des modifications, aucun responsable identifiable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3090672"/>
            <a:ext cx="4114800" cy="749808"/>
          </a:xfrm>
          <a:prstGeom prst="rect">
            <a:avLst/>
          </a:prstGeom>
          <a:solidFill>
            <a:srgbClr val="E8E2DC"/>
          </a:solidFill>
          <a:ln w="6350">
            <a:solidFill>
              <a:srgbClr val="CC3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1" name="Text 29"/>
          <p:cNvSpPr/>
          <p:nvPr/>
        </p:nvSpPr>
        <p:spPr>
          <a:xfrm>
            <a:off x="4937760" y="3136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3300"/>
                </a:solidFill>
              </a:rPr>
              <a:t>⏳ Pas de retour arrière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3924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Un bug introduit ? On ne sait pas quand, ni comment revenir en arrière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347472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50292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5" name="Text 33"/>
          <p:cNvSpPr/>
          <p:nvPr/>
        </p:nvSpPr>
        <p:spPr>
          <a:xfrm>
            <a:off x="566928" y="4023360"/>
            <a:ext cx="8065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💡 Solution : Git enregistre CHAQUE modification avec auteur, date, message et contexte — comme une machine à remonter le temps pour votre code.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Interne de Git — Comment ça marche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742432" cy="411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</a:rPr>
              <a:t>Les 4 objets fondamentaux de Git 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1965960" cy="1188720"/>
          </a:xfrm>
          <a:prstGeom prst="rect">
            <a:avLst/>
          </a:prstGeom>
          <a:solidFill>
            <a:srgbClr val="E8E2DC"/>
          </a:solidFill>
          <a:ln w="1270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0" name="Shape 8"/>
          <p:cNvSpPr/>
          <p:nvPr/>
        </p:nvSpPr>
        <p:spPr>
          <a:xfrm>
            <a:off x="457200" y="1115568"/>
            <a:ext cx="1965960" cy="32004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BLOB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14630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Contenu d'un fichier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(sans nom)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19385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sha1: a1b2c3…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06040" y="1115568"/>
            <a:ext cx="1965960" cy="1188720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5" name="Shape 13"/>
          <p:cNvSpPr/>
          <p:nvPr/>
        </p:nvSpPr>
        <p:spPr>
          <a:xfrm>
            <a:off x="2606040" y="1115568"/>
            <a:ext cx="196596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6" name="Text 14"/>
          <p:cNvSpPr/>
          <p:nvPr/>
        </p:nvSpPr>
        <p:spPr>
          <a:xfrm>
            <a:off x="2606040" y="1115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TREE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9192" y="14630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Répertoire : liste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de blobs et de trees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9192" y="19385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sha1: d4e5f6…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1115568"/>
            <a:ext cx="1965960" cy="1188720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0" name="Shape 18"/>
          <p:cNvSpPr/>
          <p:nvPr/>
        </p:nvSpPr>
        <p:spPr>
          <a:xfrm>
            <a:off x="4754880" y="1115568"/>
            <a:ext cx="1965960" cy="32004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1" name="Text 19"/>
          <p:cNvSpPr/>
          <p:nvPr/>
        </p:nvSpPr>
        <p:spPr>
          <a:xfrm>
            <a:off x="4754880" y="1115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COMMIT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14630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Snapshot avec auteur,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date, message, parent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28032" y="19385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sha1: 7g8h9i…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03720" y="1115568"/>
            <a:ext cx="1965960" cy="1188720"/>
          </a:xfrm>
          <a:prstGeom prst="rect">
            <a:avLst/>
          </a:prstGeom>
          <a:solidFill>
            <a:srgbClr val="E8E2DC"/>
          </a:solidFill>
          <a:ln w="12700">
            <a:solidFill>
              <a:srgbClr val="7B4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5" name="Shape 23"/>
          <p:cNvSpPr/>
          <p:nvPr/>
        </p:nvSpPr>
        <p:spPr>
          <a:xfrm>
            <a:off x="6903720" y="1115568"/>
            <a:ext cx="1965960" cy="320040"/>
          </a:xfrm>
          <a:prstGeom prst="rect">
            <a:avLst/>
          </a:prstGeom>
          <a:solidFill>
            <a:srgbClr val="7B4EA6"/>
          </a:solidFill>
          <a:ln w="12700">
            <a:solidFill>
              <a:srgbClr val="7B4EA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6" name="Text 24"/>
          <p:cNvSpPr/>
          <p:nvPr/>
        </p:nvSpPr>
        <p:spPr>
          <a:xfrm>
            <a:off x="6903720" y="1115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TAG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76872" y="14630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Pointeur nommé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sur un commit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76872" y="19385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v1.0.0 → sha1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</a:rPr>
              <a:t>Les 3 zones de Git 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2724912"/>
            <a:ext cx="2560320" cy="1828800"/>
          </a:xfrm>
          <a:prstGeom prst="rect">
            <a:avLst/>
          </a:prstGeom>
          <a:solidFill>
            <a:srgbClr val="E8E2DC"/>
          </a:solidFill>
          <a:ln w="19050">
            <a:solidFill>
              <a:srgbClr val="CC3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1" name="Shape 29"/>
          <p:cNvSpPr/>
          <p:nvPr/>
        </p:nvSpPr>
        <p:spPr>
          <a:xfrm>
            <a:off x="457200" y="2724912"/>
            <a:ext cx="2560320" cy="38404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2" name="Text 30"/>
          <p:cNvSpPr/>
          <p:nvPr/>
        </p:nvSpPr>
        <p:spPr>
          <a:xfrm>
            <a:off x="530352" y="272491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0EB"/>
                </a:solidFill>
              </a:rPr>
              <a:t>Working Directory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5F0EB"/>
                </a:solidFill>
              </a:rPr>
              <a:t>(Répertoire de travail)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14553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Vos fichiers tels que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vous les éditez.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Statut : modifié / non tracé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35808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</a:rPr>
              <a:t>git add →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246120" y="2724912"/>
            <a:ext cx="2560320" cy="1828800"/>
          </a:xfrm>
          <a:prstGeom prst="rect">
            <a:avLst/>
          </a:prstGeom>
          <a:solidFill>
            <a:srgbClr val="E8E2DC"/>
          </a:solidFill>
          <a:ln w="19050">
            <a:solidFill>
              <a:srgbClr val="C8971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6" name="Shape 34"/>
          <p:cNvSpPr/>
          <p:nvPr/>
        </p:nvSpPr>
        <p:spPr>
          <a:xfrm>
            <a:off x="3246120" y="2724912"/>
            <a:ext cx="2560320" cy="38404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7" name="Text 35"/>
          <p:cNvSpPr/>
          <p:nvPr/>
        </p:nvSpPr>
        <p:spPr>
          <a:xfrm>
            <a:off x="3319272" y="272491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0EB"/>
                </a:solidFill>
              </a:rPr>
              <a:t>Staging Area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5F0EB"/>
                </a:solidFill>
              </a:rPr>
              <a:t>(Index / Cache)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37560" y="314553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Zone intermédiaire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sélectionnez précisément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ce qui ira dans le commit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24728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</a:rPr>
              <a:t>git commit →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035040" y="2724912"/>
            <a:ext cx="2560320" cy="1828800"/>
          </a:xfrm>
          <a:prstGeom prst="rect">
            <a:avLst/>
          </a:prstGeom>
          <a:solidFill>
            <a:srgbClr val="E8E2DC"/>
          </a:solidFill>
          <a:ln w="1905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41" name="Shape 39"/>
          <p:cNvSpPr/>
          <p:nvPr/>
        </p:nvSpPr>
        <p:spPr>
          <a:xfrm>
            <a:off x="6035040" y="2724912"/>
            <a:ext cx="256032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2" name="Text 40"/>
          <p:cNvSpPr/>
          <p:nvPr/>
        </p:nvSpPr>
        <p:spPr>
          <a:xfrm>
            <a:off x="6108192" y="272491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0EB"/>
                </a:solidFill>
              </a:rPr>
              <a:t>Repository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5F0EB"/>
                </a:solidFill>
              </a:rPr>
              <a:t>(.git/objects)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26480" y="314553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Base de données Git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tous les commits,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l'historique complet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71800" y="3429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8971A"/>
                </a:solidFill>
              </a:rPr>
              <a:t>git add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60720" y="3429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CAF50"/>
                </a:solidFill>
              </a:rPr>
              <a:t>git commit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Tous systèmes d'exploitation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084064" cy="411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Shape 6"/>
          <p:cNvSpPr/>
          <p:nvPr/>
        </p:nvSpPr>
        <p:spPr>
          <a:xfrm>
            <a:off x="457200" y="804672"/>
            <a:ext cx="2578608" cy="1463040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9" name="Shape 7"/>
          <p:cNvSpPr/>
          <p:nvPr/>
        </p:nvSpPr>
        <p:spPr>
          <a:xfrm>
            <a:off x="457200" y="804672"/>
            <a:ext cx="2578608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" name="Text 8"/>
          <p:cNvSpPr/>
          <p:nvPr/>
        </p:nvSpPr>
        <p:spPr>
          <a:xfrm>
            <a:off x="530352" y="8046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0EB"/>
                </a:solidFill>
              </a:rPr>
              <a:t>🐧 Linux (Debian/Ubuntu)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16128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 &amp;&amp; sudo apt install git -y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48132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git  # Fedora/RHEL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18013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pacman -S git    # Arch Linux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804672"/>
            <a:ext cx="2578608" cy="1463040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5" name="Shape 13"/>
          <p:cNvSpPr/>
          <p:nvPr/>
        </p:nvSpPr>
        <p:spPr>
          <a:xfrm>
            <a:off x="3246120" y="804672"/>
            <a:ext cx="2578608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6" name="Text 14"/>
          <p:cNvSpPr/>
          <p:nvPr/>
        </p:nvSpPr>
        <p:spPr>
          <a:xfrm>
            <a:off x="3319272" y="8046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0EB"/>
                </a:solidFill>
              </a:rPr>
              <a:t>🍎 macOS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16128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git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148132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 via Xcode Command Line Tools 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18013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xcode-select --install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804672"/>
            <a:ext cx="2578608" cy="1463040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1" name="Shape 19"/>
          <p:cNvSpPr/>
          <p:nvPr/>
        </p:nvSpPr>
        <p:spPr>
          <a:xfrm>
            <a:off x="6035040" y="804672"/>
            <a:ext cx="2578608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2" name="Text 20"/>
          <p:cNvSpPr/>
          <p:nvPr/>
        </p:nvSpPr>
        <p:spPr>
          <a:xfrm>
            <a:off x="6108192" y="8046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0EB"/>
                </a:solidFill>
              </a:rPr>
              <a:t>🪟 Windows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116128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1 : Installeur officiel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26480" y="148132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git-scm.com/download/win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0" y="18013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2 : via winget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26480" y="212140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Git.Git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2359152"/>
            <a:ext cx="4114800" cy="676656"/>
          </a:xfrm>
          <a:prstGeom prst="rect">
            <a:avLst/>
          </a:prstGeom>
          <a:solidFill>
            <a:srgbClr val="F0EBE3"/>
          </a:solidFill>
          <a:ln w="6350">
            <a:solidFill>
              <a:srgbClr val="6666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8" name="Shape 26"/>
          <p:cNvSpPr/>
          <p:nvPr/>
        </p:nvSpPr>
        <p:spPr>
          <a:xfrm>
            <a:off x="457200" y="2359152"/>
            <a:ext cx="4114800" cy="256032"/>
          </a:xfrm>
          <a:prstGeom prst="rect">
            <a:avLst/>
          </a:prstGeom>
          <a:solidFill>
            <a:srgbClr val="E8E2DC"/>
          </a:solidFill>
          <a:ln w="12700">
            <a:solidFill>
              <a:srgbClr val="E8E2D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9" name="Shape 27"/>
          <p:cNvSpPr/>
          <p:nvPr/>
        </p:nvSpPr>
        <p:spPr>
          <a:xfrm>
            <a:off x="548640" y="2423160"/>
            <a:ext cx="118872" cy="118872"/>
          </a:xfrm>
          <a:prstGeom prst="ellipse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0" name="Shape 28"/>
          <p:cNvSpPr/>
          <p:nvPr/>
        </p:nvSpPr>
        <p:spPr>
          <a:xfrm>
            <a:off x="713232" y="2423160"/>
            <a:ext cx="118872" cy="118872"/>
          </a:xfrm>
          <a:prstGeom prst="ellipse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1" name="Shape 29"/>
          <p:cNvSpPr/>
          <p:nvPr/>
        </p:nvSpPr>
        <p:spPr>
          <a:xfrm>
            <a:off x="877824" y="2423160"/>
            <a:ext cx="118872" cy="11887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2" name="Text 30"/>
          <p:cNvSpPr/>
          <p:nvPr/>
        </p:nvSpPr>
        <p:spPr>
          <a:xfrm>
            <a:off x="566928" y="2651760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2843784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2.47.0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035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</a:rPr>
              <a:t>Configuration indispensable (à faire une seule fois) 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364992"/>
            <a:ext cx="2697480" cy="713232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6" name="Text 34"/>
          <p:cNvSpPr/>
          <p:nvPr/>
        </p:nvSpPr>
        <p:spPr>
          <a:xfrm>
            <a:off x="548640" y="34015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D2C00"/>
                </a:solidFill>
              </a:rPr>
              <a:t>Identité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362102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"Prénom Nom"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"moi@email.com"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337560" y="3364992"/>
            <a:ext cx="2697480" cy="713232"/>
          </a:xfrm>
          <a:prstGeom prst="rect">
            <a:avLst/>
          </a:prstGeom>
          <a:solidFill>
            <a:srgbClr val="E8E2DC"/>
          </a:solidFill>
          <a:ln w="635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9" name="Text 37"/>
          <p:cNvSpPr/>
          <p:nvPr/>
        </p:nvSpPr>
        <p:spPr>
          <a:xfrm>
            <a:off x="3429000" y="34015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</a:rPr>
              <a:t>Éditeur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29000" y="362102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core.editor "code --wait"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VS Code comme éditeur par défaut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17920" y="3364992"/>
            <a:ext cx="2697480" cy="713232"/>
          </a:xfrm>
          <a:prstGeom prst="rect">
            <a:avLst/>
          </a:prstGeom>
          <a:solidFill>
            <a:srgbClr val="E8E2DC"/>
          </a:solidFill>
          <a:ln w="6350">
            <a:solidFill>
              <a:srgbClr val="C8971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42" name="Text 40"/>
          <p:cNvSpPr/>
          <p:nvPr/>
        </p:nvSpPr>
        <p:spPr>
          <a:xfrm>
            <a:off x="6309360" y="34015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971A"/>
                </a:solidFill>
              </a:rPr>
              <a:t>Branche par défaut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62102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init.defaultBranch main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Recommandé depuis 2020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4169664"/>
            <a:ext cx="2697480" cy="713232"/>
          </a:xfrm>
          <a:prstGeom prst="rect">
            <a:avLst/>
          </a:prstGeom>
          <a:solidFill>
            <a:srgbClr val="E8E2DC"/>
          </a:solidFill>
          <a:ln w="6350">
            <a:solidFill>
              <a:srgbClr val="7B4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45" name="Text 43"/>
          <p:cNvSpPr/>
          <p:nvPr/>
        </p:nvSpPr>
        <p:spPr>
          <a:xfrm>
            <a:off x="548640" y="42062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4EA6"/>
                </a:solidFill>
              </a:rPr>
              <a:t>Fin de ligne (OS)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44256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core.autocrlf input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Linux/Mac: input | Windows: true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337560" y="4169664"/>
            <a:ext cx="2697480" cy="713232"/>
          </a:xfrm>
          <a:prstGeom prst="rect">
            <a:avLst/>
          </a:prstGeom>
          <a:solidFill>
            <a:srgbClr val="E8E2DC"/>
          </a:solidFill>
          <a:ln w="635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48" name="Text 46"/>
          <p:cNvSpPr/>
          <p:nvPr/>
        </p:nvSpPr>
        <p:spPr>
          <a:xfrm>
            <a:off x="3429000" y="42062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</a:rPr>
              <a:t>Alias pratiques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29000" y="44256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alias.st status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alias.lg "log --oneline --graph"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217920" y="4169664"/>
            <a:ext cx="2697480" cy="713232"/>
          </a:xfrm>
          <a:prstGeom prst="rect">
            <a:avLst/>
          </a:prstGeom>
          <a:solidFill>
            <a:srgbClr val="E8E2DC"/>
          </a:solidFill>
          <a:ln w="6350">
            <a:solidFill>
              <a:srgbClr val="6666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51" name="Text 49"/>
          <p:cNvSpPr/>
          <p:nvPr/>
        </p:nvSpPr>
        <p:spPr>
          <a:xfrm>
            <a:off x="6309360" y="42062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6666"/>
                </a:solidFill>
              </a:rPr>
              <a:t>Voir toute la config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44256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--list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--list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04a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d'un fichier dans Git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096512" cy="4114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5" name="Text 13"/>
          <p:cNvSpPr/>
          <p:nvPr/>
        </p:nvSpPr>
        <p:spPr>
          <a:xfrm>
            <a:off x="292608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1A"/>
                </a:solidFill>
              </a:rPr>
              <a:t>Commandes essentielles du cycle 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50292" cy="33832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9" name="Text 27"/>
          <p:cNvSpPr/>
          <p:nvPr/>
        </p:nvSpPr>
        <p:spPr>
          <a:xfrm>
            <a:off x="557784" y="397764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473452" y="397764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Initialiser un nouveau dépôt (crée .git/)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361688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2" name="Shape 30"/>
          <p:cNvSpPr/>
          <p:nvPr/>
        </p:nvSpPr>
        <p:spPr>
          <a:xfrm>
            <a:off x="457200" y="4361688"/>
            <a:ext cx="50292" cy="33832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3" name="Text 31"/>
          <p:cNvSpPr/>
          <p:nvPr/>
        </p:nvSpPr>
        <p:spPr>
          <a:xfrm>
            <a:off x="557784" y="436168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&lt;f&gt;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473452" y="436168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Ajouter au staging (par fichier ou . pour tout)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745736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6" name="Shape 34"/>
          <p:cNvSpPr/>
          <p:nvPr/>
        </p:nvSpPr>
        <p:spPr>
          <a:xfrm>
            <a:off x="457200" y="4745736"/>
            <a:ext cx="50292" cy="33832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7" name="Text 35"/>
          <p:cNvSpPr/>
          <p:nvPr/>
        </p:nvSpPr>
        <p:spPr>
          <a:xfrm>
            <a:off x="557784" y="474573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-p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473452" y="474573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Ajout interactif : choisir des morceaux (hunks)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3977640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0" name="Shape 38"/>
          <p:cNvSpPr/>
          <p:nvPr/>
        </p:nvSpPr>
        <p:spPr>
          <a:xfrm>
            <a:off x="4846320" y="3977640"/>
            <a:ext cx="50292" cy="3383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1" name="Text 39"/>
          <p:cNvSpPr/>
          <p:nvPr/>
        </p:nvSpPr>
        <p:spPr>
          <a:xfrm>
            <a:off x="4946904" y="397764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62572" y="397764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Créer un commit avec message en ligne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46320" y="4361688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4" name="Shape 42"/>
          <p:cNvSpPr/>
          <p:nvPr/>
        </p:nvSpPr>
        <p:spPr>
          <a:xfrm>
            <a:off x="4846320" y="4361688"/>
            <a:ext cx="50292" cy="3383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5" name="Text 43"/>
          <p:cNvSpPr/>
          <p:nvPr/>
        </p:nvSpPr>
        <p:spPr>
          <a:xfrm>
            <a:off x="4946904" y="436168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-am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62572" y="436168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Add + commit en une commande (fichiers suivis)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4745736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8" name="Shape 46"/>
          <p:cNvSpPr/>
          <p:nvPr/>
        </p:nvSpPr>
        <p:spPr>
          <a:xfrm>
            <a:off x="4846320" y="4745736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9" name="Text 47"/>
          <p:cNvSpPr/>
          <p:nvPr/>
        </p:nvSpPr>
        <p:spPr>
          <a:xfrm>
            <a:off x="4946904" y="474573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-s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62572" y="474573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Statut court (M=modifié, A=ajouté, ?=non suivi)</a:t>
            </a:r>
            <a:endParaRPr lang="en-US" sz="800" dirty="0"/>
          </a:p>
        </p:txBody>
      </p:sp>
      <p:pic>
        <p:nvPicPr>
          <p:cNvPr id="3074" name="Picture 2" descr="Git - Enregistrer des modifications dans le dépôt">
            <a:extLst>
              <a:ext uri="{FF2B5EF4-FFF2-40B4-BE49-F238E27FC236}">
                <a16:creationId xmlns:a16="http://schemas.microsoft.com/office/drawing/2014/main" id="{5E27EB3D-F1A2-1AC7-B16E-33394A1EF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11530"/>
            <a:ext cx="7620000" cy="251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04b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Inspecter, Annuler &amp; Revenir en arrière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645152" cy="4114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CC"/>
                </a:solidFill>
              </a:rPr>
              <a:t>Inspection de l'historique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1" name="Text 9"/>
          <p:cNvSpPr/>
          <p:nvPr/>
        </p:nvSpPr>
        <p:spPr>
          <a:xfrm>
            <a:off x="557784" y="109728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73452" y="109728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Historique détaillé (auteur, date, message, hash)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481328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4" name="Shape 12"/>
          <p:cNvSpPr/>
          <p:nvPr/>
        </p:nvSpPr>
        <p:spPr>
          <a:xfrm>
            <a:off x="457200" y="1481328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5" name="Text 13"/>
          <p:cNvSpPr/>
          <p:nvPr/>
        </p:nvSpPr>
        <p:spPr>
          <a:xfrm>
            <a:off x="557784" y="148132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73452" y="148132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Une ligne par commit (hash court + message)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865376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8" name="Shape 16"/>
          <p:cNvSpPr/>
          <p:nvPr/>
        </p:nvSpPr>
        <p:spPr>
          <a:xfrm>
            <a:off x="457200" y="1865376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9" name="Text 17"/>
          <p:cNvSpPr/>
          <p:nvPr/>
        </p:nvSpPr>
        <p:spPr>
          <a:xfrm>
            <a:off x="557784" y="186537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 --all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73452" y="186537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Graphe ASCII de toutes les branches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249424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2" name="Shape 20"/>
          <p:cNvSpPr/>
          <p:nvPr/>
        </p:nvSpPr>
        <p:spPr>
          <a:xfrm>
            <a:off x="457200" y="2249424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3" name="Text 21"/>
          <p:cNvSpPr/>
          <p:nvPr/>
        </p:nvSpPr>
        <p:spPr>
          <a:xfrm>
            <a:off x="557784" y="224942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73452" y="224942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Historique avec les diffs de chaque commit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633472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6" name="Shape 24"/>
          <p:cNvSpPr/>
          <p:nvPr/>
        </p:nvSpPr>
        <p:spPr>
          <a:xfrm>
            <a:off x="457200" y="2633472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7" name="Text 25"/>
          <p:cNvSpPr/>
          <p:nvPr/>
        </p:nvSpPr>
        <p:spPr>
          <a:xfrm>
            <a:off x="557784" y="263347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--author="Alice"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73452" y="263347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Filtrer par auteur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1097280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0" name="Shape 28"/>
          <p:cNvSpPr/>
          <p:nvPr/>
        </p:nvSpPr>
        <p:spPr>
          <a:xfrm>
            <a:off x="4846320" y="1097280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1" name="Text 29"/>
          <p:cNvSpPr/>
          <p:nvPr/>
        </p:nvSpPr>
        <p:spPr>
          <a:xfrm>
            <a:off x="4946904" y="109728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--since="2 weeks ago"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62572" y="109728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Filtrer par date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1481328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4" name="Shape 32"/>
          <p:cNvSpPr/>
          <p:nvPr/>
        </p:nvSpPr>
        <p:spPr>
          <a:xfrm>
            <a:off x="4846320" y="1481328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5" name="Text 33"/>
          <p:cNvSpPr/>
          <p:nvPr/>
        </p:nvSpPr>
        <p:spPr>
          <a:xfrm>
            <a:off x="4946904" y="148132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&lt;hash&gt;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62572" y="148132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Détails complets d'un commit spécifique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46320" y="1865376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8" name="Shape 36"/>
          <p:cNvSpPr/>
          <p:nvPr/>
        </p:nvSpPr>
        <p:spPr>
          <a:xfrm>
            <a:off x="4846320" y="1865376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9" name="Text 37"/>
          <p:cNvSpPr/>
          <p:nvPr/>
        </p:nvSpPr>
        <p:spPr>
          <a:xfrm>
            <a:off x="4946904" y="186537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62572" y="186537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Modifications non stagées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2249424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2" name="Shape 40"/>
          <p:cNvSpPr/>
          <p:nvPr/>
        </p:nvSpPr>
        <p:spPr>
          <a:xfrm>
            <a:off x="4846320" y="2249424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3" name="Text 41"/>
          <p:cNvSpPr/>
          <p:nvPr/>
        </p:nvSpPr>
        <p:spPr>
          <a:xfrm>
            <a:off x="4946904" y="224942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62572" y="224942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Modifications stagées (avant commit)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46320" y="2633472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6" name="Shape 44"/>
          <p:cNvSpPr/>
          <p:nvPr/>
        </p:nvSpPr>
        <p:spPr>
          <a:xfrm>
            <a:off x="4846320" y="2633472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7" name="Text 45"/>
          <p:cNvSpPr/>
          <p:nvPr/>
        </p:nvSpPr>
        <p:spPr>
          <a:xfrm>
            <a:off x="4946904" y="263347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main..feature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62572" y="263347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Différences entre deux branches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3090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</a:rPr>
              <a:t>Annuler &amp; Corriger :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3383280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1" name="Shape 49"/>
          <p:cNvSpPr/>
          <p:nvPr/>
        </p:nvSpPr>
        <p:spPr>
          <a:xfrm>
            <a:off x="457200" y="3383280"/>
            <a:ext cx="50292" cy="33832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2" name="Text 50"/>
          <p:cNvSpPr/>
          <p:nvPr/>
        </p:nvSpPr>
        <p:spPr>
          <a:xfrm>
            <a:off x="557784" y="338328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&lt;f&gt;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473452" y="338328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Annuler modifs d'un fichier (non stagé)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3767328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5" name="Shape 53"/>
          <p:cNvSpPr/>
          <p:nvPr/>
        </p:nvSpPr>
        <p:spPr>
          <a:xfrm>
            <a:off x="457200" y="3767328"/>
            <a:ext cx="50292" cy="33832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6" name="Text 54"/>
          <p:cNvSpPr/>
          <p:nvPr/>
        </p:nvSpPr>
        <p:spPr>
          <a:xfrm>
            <a:off x="557784" y="376732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&lt;f&gt;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473452" y="376732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Désindexer (enlever du staging)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4151376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9" name="Shape 57"/>
          <p:cNvSpPr/>
          <p:nvPr/>
        </p:nvSpPr>
        <p:spPr>
          <a:xfrm>
            <a:off x="457200" y="4151376"/>
            <a:ext cx="50292" cy="33832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0" name="Text 58"/>
          <p:cNvSpPr/>
          <p:nvPr/>
        </p:nvSpPr>
        <p:spPr>
          <a:xfrm>
            <a:off x="557784" y="415137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--amend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473452" y="415137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Modifier le DERNIER commit (message/contenu)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" y="4535424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3" name="Shape 61"/>
          <p:cNvSpPr/>
          <p:nvPr/>
        </p:nvSpPr>
        <p:spPr>
          <a:xfrm>
            <a:off x="457200" y="4535424"/>
            <a:ext cx="50292" cy="33832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4" name="Text 62"/>
          <p:cNvSpPr/>
          <p:nvPr/>
        </p:nvSpPr>
        <p:spPr>
          <a:xfrm>
            <a:off x="557784" y="453542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--soft HEAD~1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473452" y="453542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Annuler dernier commit, garde staging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46320" y="3383280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7" name="Shape 65"/>
          <p:cNvSpPr/>
          <p:nvPr/>
        </p:nvSpPr>
        <p:spPr>
          <a:xfrm>
            <a:off x="4846320" y="3383280"/>
            <a:ext cx="50292" cy="33832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8" name="Text 66"/>
          <p:cNvSpPr/>
          <p:nvPr/>
        </p:nvSpPr>
        <p:spPr>
          <a:xfrm>
            <a:off x="4946904" y="338328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--mixed HEAD~1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862572" y="338328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Annuler commit + staging, garde fichiers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46320" y="3767328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1" name="Shape 69"/>
          <p:cNvSpPr/>
          <p:nvPr/>
        </p:nvSpPr>
        <p:spPr>
          <a:xfrm>
            <a:off x="4846320" y="3767328"/>
            <a:ext cx="50292" cy="33832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2" name="Text 70"/>
          <p:cNvSpPr/>
          <p:nvPr/>
        </p:nvSpPr>
        <p:spPr>
          <a:xfrm>
            <a:off x="4946904" y="376732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 HEAD~1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862572" y="376732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⚠️  Supprime le commit ET les modifications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846320" y="4151376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5" name="Shape 73"/>
          <p:cNvSpPr/>
          <p:nvPr/>
        </p:nvSpPr>
        <p:spPr>
          <a:xfrm>
            <a:off x="4846320" y="4151376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6" name="Text 74"/>
          <p:cNvSpPr/>
          <p:nvPr/>
        </p:nvSpPr>
        <p:spPr>
          <a:xfrm>
            <a:off x="4946904" y="415137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&lt;hash&gt;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862572" y="415137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Crée un NOUVEAU commit qui annule &lt;hash&gt;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846320" y="4535424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9" name="Shape 77"/>
          <p:cNvSpPr/>
          <p:nvPr/>
        </p:nvSpPr>
        <p:spPr>
          <a:xfrm>
            <a:off x="4846320" y="4535424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0" name="Text 78"/>
          <p:cNvSpPr/>
          <p:nvPr/>
        </p:nvSpPr>
        <p:spPr>
          <a:xfrm>
            <a:off x="4946904" y="453542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HEAD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862572" y="453542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Annuler le dernier commit (sûr pour remote)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57200" y="4910328"/>
            <a:ext cx="8229600" cy="256032"/>
          </a:xfrm>
          <a:prstGeom prst="rect">
            <a:avLst/>
          </a:prstGeom>
          <a:solidFill>
            <a:srgbClr val="E8E2DC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3" name="Shape 81"/>
          <p:cNvSpPr/>
          <p:nvPr/>
        </p:nvSpPr>
        <p:spPr>
          <a:xfrm>
            <a:off x="457200" y="4910328"/>
            <a:ext cx="50292" cy="256032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4" name="Text 82"/>
          <p:cNvSpPr/>
          <p:nvPr/>
        </p:nvSpPr>
        <p:spPr>
          <a:xfrm>
            <a:off x="566928" y="4910328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⚠️  reset --hard est DESTRUCTIF (données perdues). Préférer revert sur des commits déjà publiés (remote).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3A8FDB"/>
          </a:solidFill>
          <a:ln w="12700">
            <a:solidFill>
              <a:srgbClr val="3A8FDB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.gitignore, .gitattributes &amp; Fichiers Spéciaux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13248" cy="41148"/>
          </a:xfrm>
          <a:prstGeom prst="rect">
            <a:avLst/>
          </a:prstGeom>
          <a:solidFill>
            <a:srgbClr val="3A8FDB"/>
          </a:solidFill>
          <a:ln w="12700">
            <a:solidFill>
              <a:srgbClr val="3A8FDB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FDB"/>
                </a:solidFill>
              </a:rPr>
              <a:t>Le fichier .gitignore — Exclure des fichiers du suivi Git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4160520" cy="3063240"/>
          </a:xfrm>
          <a:prstGeom prst="rect">
            <a:avLst/>
          </a:prstGeom>
          <a:solidFill>
            <a:srgbClr val="F0EBE3"/>
          </a:solidFill>
          <a:ln w="12700">
            <a:solidFill>
              <a:srgbClr val="3A8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0" name="Shape 8"/>
          <p:cNvSpPr/>
          <p:nvPr/>
        </p:nvSpPr>
        <p:spPr>
          <a:xfrm>
            <a:off x="457200" y="1115568"/>
            <a:ext cx="4160520" cy="292608"/>
          </a:xfrm>
          <a:prstGeom prst="rect">
            <a:avLst/>
          </a:prstGeom>
          <a:solidFill>
            <a:srgbClr val="E8E2DC"/>
          </a:solidFill>
          <a:ln w="12700">
            <a:solidFill>
              <a:srgbClr val="E8E2D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1" name="Text 9"/>
          <p:cNvSpPr/>
          <p:nvPr/>
        </p:nvSpPr>
        <p:spPr>
          <a:xfrm>
            <a:off x="548640" y="1115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8FDB"/>
                </a:solidFill>
              </a:rPr>
              <a:t>📄 .gitignore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14447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Commentaire : Environnement Python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16230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1801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*.py[cod]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19796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venv/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21579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Fichiers d'environnement (SECRETS !)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928" y="23362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25146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.env.local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" y="26929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&amp; dépendances Node.js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" y="2871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" y="30495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" y="3227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IDE &amp; OS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" y="34061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.vscode/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35844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.DS_Store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6928" y="37627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Thumbs.db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0060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8FDB"/>
                </a:solidFill>
              </a:rPr>
              <a:t>Règles de syntaxe .gitignore 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435608"/>
            <a:ext cx="411480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8" name="Text 26"/>
          <p:cNvSpPr/>
          <p:nvPr/>
        </p:nvSpPr>
        <p:spPr>
          <a:xfrm>
            <a:off x="4892040" y="143560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1435608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Joker : ignore tous les fichiers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1819656"/>
            <a:ext cx="411480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1" name="Text 29"/>
          <p:cNvSpPr/>
          <p:nvPr/>
        </p:nvSpPr>
        <p:spPr>
          <a:xfrm>
            <a:off x="4892040" y="181965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52160" y="1819656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Ignore tous les .log peu importe le dossier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2203704"/>
            <a:ext cx="411480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4" name="Text 32"/>
          <p:cNvSpPr/>
          <p:nvPr/>
        </p:nvSpPr>
        <p:spPr>
          <a:xfrm>
            <a:off x="4892040" y="22037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52160" y="2203704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Ignore seulement build/ à la racine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2587752"/>
            <a:ext cx="411480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7" name="Text 35"/>
          <p:cNvSpPr/>
          <p:nvPr/>
        </p:nvSpPr>
        <p:spPr>
          <a:xfrm>
            <a:off x="4892040" y="258775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52160" y="2587752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Ignore TOUT dossier nommé build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2971800"/>
            <a:ext cx="411480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0" name="Text 38"/>
          <p:cNvSpPr/>
          <p:nvPr/>
        </p:nvSpPr>
        <p:spPr>
          <a:xfrm>
            <a:off x="4892040" y="297180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!important.log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52160" y="297180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Exception : ne PAS ignorer ce fichier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00600" y="3355848"/>
            <a:ext cx="411480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3" name="Text 41"/>
          <p:cNvSpPr/>
          <p:nvPr/>
        </p:nvSpPr>
        <p:spPr>
          <a:xfrm>
            <a:off x="4892040" y="33558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doc/**/*.pdf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0" y="3355848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Ignore tous les PDF dans doc/ récursivement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0600" y="3794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8FDB"/>
                </a:solidFill>
              </a:rPr>
              <a:t>Autres fichiers spéciaux :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4096512"/>
            <a:ext cx="4114800" cy="219456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7" name="Shape 45"/>
          <p:cNvSpPr/>
          <p:nvPr/>
        </p:nvSpPr>
        <p:spPr>
          <a:xfrm>
            <a:off x="4800600" y="4096512"/>
            <a:ext cx="50292" cy="219456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8" name="Text 46"/>
          <p:cNvSpPr/>
          <p:nvPr/>
        </p:nvSpPr>
        <p:spPr>
          <a:xfrm>
            <a:off x="4910328" y="409651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.gitattributes — Normaliser fins de ligne, diff binaires, exports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00600" y="4352544"/>
            <a:ext cx="4114800" cy="219456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0" name="Shape 48"/>
          <p:cNvSpPr/>
          <p:nvPr/>
        </p:nvSpPr>
        <p:spPr>
          <a:xfrm>
            <a:off x="4800600" y="4352544"/>
            <a:ext cx="50292" cy="219456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1" name="Text 49"/>
          <p:cNvSpPr/>
          <p:nvPr/>
        </p:nvSpPr>
        <p:spPr>
          <a:xfrm>
            <a:off x="4910328" y="435254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.gitkeep — Tracker un dossier vide (Git ne suit pas les dossiers vides)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4608576"/>
            <a:ext cx="4114800" cy="219456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3" name="Shape 51"/>
          <p:cNvSpPr/>
          <p:nvPr/>
        </p:nvSpPr>
        <p:spPr>
          <a:xfrm>
            <a:off x="4800600" y="4608576"/>
            <a:ext cx="50292" cy="219456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4" name="Text 52"/>
          <p:cNvSpPr/>
          <p:nvPr/>
        </p:nvSpPr>
        <p:spPr>
          <a:xfrm>
            <a:off x="4910328" y="460857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README.md — Documentation du projet (affichée sur GitHub)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4864608"/>
            <a:ext cx="4114800" cy="219456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6" name="Shape 54"/>
          <p:cNvSpPr/>
          <p:nvPr/>
        </p:nvSpPr>
        <p:spPr>
          <a:xfrm>
            <a:off x="4800600" y="4864608"/>
            <a:ext cx="50292" cy="219456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7" name="Text 55"/>
          <p:cNvSpPr/>
          <p:nvPr/>
        </p:nvSpPr>
        <p:spPr>
          <a:xfrm>
            <a:off x="4910328" y="486460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.github/ — Workflows CI, PR templates, issue templates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4206240"/>
            <a:ext cx="4160520" cy="347472"/>
          </a:xfrm>
          <a:prstGeom prst="rect">
            <a:avLst/>
          </a:prstGeom>
          <a:solidFill>
            <a:srgbClr val="E8E2DC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9" name="Shape 57"/>
          <p:cNvSpPr/>
          <p:nvPr/>
        </p:nvSpPr>
        <p:spPr>
          <a:xfrm>
            <a:off x="457200" y="4206240"/>
            <a:ext cx="50292" cy="347472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0" name="Text 58"/>
          <p:cNvSpPr/>
          <p:nvPr/>
        </p:nvSpPr>
        <p:spPr>
          <a:xfrm>
            <a:off x="566928" y="4206240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💡 Global : git config --global core.excludesfile ~/.gitignore_global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Ignorer les fichiers IDE pour TOUS vos projets.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7200" y="459943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66CC"/>
                </a:solidFill>
              </a:rPr>
              <a:t>gitignore.io — Générer un .gitignore adapté à votre stack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7B4EA6"/>
          </a:solidFill>
          <a:ln w="12700">
            <a:solidFill>
              <a:srgbClr val="7B4EA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06a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Branches — Concept &amp; Commandes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096512" cy="41148"/>
          </a:xfrm>
          <a:prstGeom prst="rect">
            <a:avLst/>
          </a:prstGeom>
          <a:solidFill>
            <a:srgbClr val="7B4EA6"/>
          </a:solidFill>
          <a:ln w="12700">
            <a:solidFill>
              <a:srgbClr val="7B4EA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1060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258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2578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EA6"/>
                </a:solidFill>
              </a:rPr>
              <a:t>Commandes de branches 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871216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2" name="Shape 30"/>
          <p:cNvSpPr/>
          <p:nvPr/>
        </p:nvSpPr>
        <p:spPr>
          <a:xfrm>
            <a:off x="457200" y="2871216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3" name="Text 31"/>
          <p:cNvSpPr/>
          <p:nvPr/>
        </p:nvSpPr>
        <p:spPr>
          <a:xfrm>
            <a:off x="557784" y="287121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473452" y="287121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Lister branches locales (* = courante)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255264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6" name="Shape 34"/>
          <p:cNvSpPr/>
          <p:nvPr/>
        </p:nvSpPr>
        <p:spPr>
          <a:xfrm>
            <a:off x="457200" y="3255264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7" name="Text 35"/>
          <p:cNvSpPr/>
          <p:nvPr/>
        </p:nvSpPr>
        <p:spPr>
          <a:xfrm>
            <a:off x="557784" y="325526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473452" y="325526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Lister branches locales ET distantes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3639312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0" name="Shape 38"/>
          <p:cNvSpPr/>
          <p:nvPr/>
        </p:nvSpPr>
        <p:spPr>
          <a:xfrm>
            <a:off x="457200" y="3639312"/>
            <a:ext cx="50292" cy="3383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1" name="Text 39"/>
          <p:cNvSpPr/>
          <p:nvPr/>
        </p:nvSpPr>
        <p:spPr>
          <a:xfrm>
            <a:off x="557784" y="363931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&lt;nom&gt;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473452" y="363931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Créer une branche (sans y aller)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4023360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4" name="Shape 42"/>
          <p:cNvSpPr/>
          <p:nvPr/>
        </p:nvSpPr>
        <p:spPr>
          <a:xfrm>
            <a:off x="457200" y="4023360"/>
            <a:ext cx="50292" cy="3383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5" name="Text 43"/>
          <p:cNvSpPr/>
          <p:nvPr/>
        </p:nvSpPr>
        <p:spPr>
          <a:xfrm>
            <a:off x="557784" y="402336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&lt;nom&gt;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473452" y="402336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Créer ET basculer (syntaxe moderne)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4407408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8" name="Shape 46"/>
          <p:cNvSpPr/>
          <p:nvPr/>
        </p:nvSpPr>
        <p:spPr>
          <a:xfrm>
            <a:off x="457200" y="4407408"/>
            <a:ext cx="50292" cy="3383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9" name="Text 47"/>
          <p:cNvSpPr/>
          <p:nvPr/>
        </p:nvSpPr>
        <p:spPr>
          <a:xfrm>
            <a:off x="557784" y="440740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&lt;nom&gt;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473452" y="440740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Créer ET basculer (syntaxe classique)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46320" y="2871216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2" name="Shape 50"/>
          <p:cNvSpPr/>
          <p:nvPr/>
        </p:nvSpPr>
        <p:spPr>
          <a:xfrm>
            <a:off x="4846320" y="2871216"/>
            <a:ext cx="50292" cy="33832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3" name="Text 51"/>
          <p:cNvSpPr/>
          <p:nvPr/>
        </p:nvSpPr>
        <p:spPr>
          <a:xfrm>
            <a:off x="4946904" y="287121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&lt;nom&gt;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862572" y="287121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Basculer sur une branche existante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46320" y="3255264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6" name="Shape 54"/>
          <p:cNvSpPr/>
          <p:nvPr/>
        </p:nvSpPr>
        <p:spPr>
          <a:xfrm>
            <a:off x="4846320" y="3255264"/>
            <a:ext cx="50292" cy="33832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7" name="Text 55"/>
          <p:cNvSpPr/>
          <p:nvPr/>
        </p:nvSpPr>
        <p:spPr>
          <a:xfrm>
            <a:off x="4946904" y="325526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&lt;old&gt; &lt;new&gt;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62572" y="325526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Renommer une branche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46320" y="3639312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0" name="Shape 58"/>
          <p:cNvSpPr/>
          <p:nvPr/>
        </p:nvSpPr>
        <p:spPr>
          <a:xfrm>
            <a:off x="4846320" y="3639312"/>
            <a:ext cx="50292" cy="33832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1" name="Text 59"/>
          <p:cNvSpPr/>
          <p:nvPr/>
        </p:nvSpPr>
        <p:spPr>
          <a:xfrm>
            <a:off x="4946904" y="363931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&lt;nom&gt;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862572" y="363931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Supprimer (si fusionnée)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46320" y="4023360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4" name="Shape 62"/>
          <p:cNvSpPr/>
          <p:nvPr/>
        </p:nvSpPr>
        <p:spPr>
          <a:xfrm>
            <a:off x="4846320" y="4023360"/>
            <a:ext cx="50292" cy="33832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5" name="Text 63"/>
          <p:cNvSpPr/>
          <p:nvPr/>
        </p:nvSpPr>
        <p:spPr>
          <a:xfrm>
            <a:off x="4946904" y="402336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&lt;nom&gt;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62572" y="402336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Supprimer de force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846320" y="4407408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8" name="Shape 66"/>
          <p:cNvSpPr/>
          <p:nvPr/>
        </p:nvSpPr>
        <p:spPr>
          <a:xfrm>
            <a:off x="4846320" y="4407408"/>
            <a:ext cx="50292" cy="33832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9" name="Text 67"/>
          <p:cNvSpPr/>
          <p:nvPr/>
        </p:nvSpPr>
        <p:spPr>
          <a:xfrm>
            <a:off x="4946904" y="440740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--merged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862572" y="440740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Voir branches déjà fusionnées</a:t>
            </a:r>
            <a:endParaRPr lang="en-US" sz="800" dirty="0"/>
          </a:p>
        </p:txBody>
      </p:sp>
      <p:pic>
        <p:nvPicPr>
          <p:cNvPr id="4098" name="Picture 2" descr="LUTECE Site Support - Wiki - Normes de gestion des branches GIT">
            <a:extLst>
              <a:ext uri="{FF2B5EF4-FFF2-40B4-BE49-F238E27FC236}">
                <a16:creationId xmlns:a16="http://schemas.microsoft.com/office/drawing/2014/main" id="{040F8509-B7F2-91F5-22D4-2AE6411AA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59" y="822960"/>
            <a:ext cx="5848350" cy="163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7B4EA6"/>
          </a:solidFill>
          <a:ln w="12700">
            <a:solidFill>
              <a:srgbClr val="7B4EA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06b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(Merge) &amp; Résolution de Conflits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645152" cy="41148"/>
          </a:xfrm>
          <a:prstGeom prst="rect">
            <a:avLst/>
          </a:prstGeom>
          <a:solidFill>
            <a:srgbClr val="7B4EA6"/>
          </a:solidFill>
          <a:ln w="12700">
            <a:solidFill>
              <a:srgbClr val="7B4EA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EA6"/>
                </a:solidFill>
              </a:rPr>
              <a:t>Les 3 types de merge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578608" cy="1508760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0" name="Shape 8"/>
          <p:cNvSpPr/>
          <p:nvPr/>
        </p:nvSpPr>
        <p:spPr>
          <a:xfrm>
            <a:off x="457200" y="1115568"/>
            <a:ext cx="2578608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1" name="Text 9"/>
          <p:cNvSpPr/>
          <p:nvPr/>
        </p:nvSpPr>
        <p:spPr>
          <a:xfrm>
            <a:off x="530352" y="111556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Fast-Forward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4630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La branche cible n'a pas avancé.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Git déplace simplement le pointeur.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Historique linéaire.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2395728" cy="256032"/>
          </a:xfrm>
          <a:prstGeom prst="rect">
            <a:avLst/>
          </a:prstGeom>
          <a:solidFill>
            <a:srgbClr val="EDE8E2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CAF50"/>
                </a:solidFill>
              </a:rPr>
              <a:t>→ Rapide, propre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1115568"/>
            <a:ext cx="2578608" cy="1508760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6" name="Shape 14"/>
          <p:cNvSpPr/>
          <p:nvPr/>
        </p:nvSpPr>
        <p:spPr>
          <a:xfrm>
            <a:off x="3246120" y="1115568"/>
            <a:ext cx="2578608" cy="32004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7" name="Text 15"/>
          <p:cNvSpPr/>
          <p:nvPr/>
        </p:nvSpPr>
        <p:spPr>
          <a:xfrm>
            <a:off x="3319272" y="111556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3-Way Merge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4630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Deux branches ont divergé.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Git crée un COMMIT de fusion.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Historique non-linéaire.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37560" y="2286000"/>
            <a:ext cx="2395728" cy="256032"/>
          </a:xfrm>
          <a:prstGeom prst="rect">
            <a:avLst/>
          </a:prstGeom>
          <a:solidFill>
            <a:srgbClr val="EDE8E2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0" name="Text 18"/>
          <p:cNvSpPr/>
          <p:nvPr/>
        </p:nvSpPr>
        <p:spPr>
          <a:xfrm>
            <a:off x="3383280" y="22860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66CC"/>
                </a:solidFill>
              </a:rPr>
              <a:t>→ Recommandé équipe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1115568"/>
            <a:ext cx="2578608" cy="1508760"/>
          </a:xfrm>
          <a:prstGeom prst="rect">
            <a:avLst/>
          </a:prstGeom>
          <a:solidFill>
            <a:srgbClr val="E8E2DC"/>
          </a:solidFill>
          <a:ln w="1270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2" name="Shape 20"/>
          <p:cNvSpPr/>
          <p:nvPr/>
        </p:nvSpPr>
        <p:spPr>
          <a:xfrm>
            <a:off x="6035040" y="1115568"/>
            <a:ext cx="2578608" cy="32004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3" name="Text 21"/>
          <p:cNvSpPr/>
          <p:nvPr/>
        </p:nvSpPr>
        <p:spPr>
          <a:xfrm>
            <a:off x="6108192" y="111556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Squash Merge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4630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Tous les commits de la branche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sont compressés en UN seul commit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avant fusion.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2286000"/>
            <a:ext cx="2395728" cy="256032"/>
          </a:xfrm>
          <a:prstGeom prst="rect">
            <a:avLst/>
          </a:prstGeom>
          <a:solidFill>
            <a:srgbClr val="EDE8E2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6" name="Text 24"/>
          <p:cNvSpPr/>
          <p:nvPr/>
        </p:nvSpPr>
        <p:spPr>
          <a:xfrm>
            <a:off x="6172200" y="22860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D2C00"/>
                </a:solidFill>
              </a:rPr>
              <a:t>→ Pour PR nettes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2715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</a:rPr>
              <a:t>Résolution de conflits — étape par étape 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99232"/>
            <a:ext cx="4114800" cy="1737360"/>
          </a:xfrm>
          <a:prstGeom prst="rect">
            <a:avLst/>
          </a:prstGeom>
          <a:solidFill>
            <a:srgbClr val="F0EBE3"/>
          </a:solidFill>
          <a:ln w="12700">
            <a:solidFill>
              <a:srgbClr val="CC3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9" name="Shape 27"/>
          <p:cNvSpPr/>
          <p:nvPr/>
        </p:nvSpPr>
        <p:spPr>
          <a:xfrm>
            <a:off x="457200" y="2999232"/>
            <a:ext cx="4114800" cy="256032"/>
          </a:xfrm>
          <a:prstGeom prst="rect">
            <a:avLst/>
          </a:prstGeom>
          <a:solidFill>
            <a:srgbClr val="E8E2DC"/>
          </a:solidFill>
          <a:ln w="12700">
            <a:solidFill>
              <a:srgbClr val="E8E2D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0" name="Text 28"/>
          <p:cNvSpPr/>
          <p:nvPr/>
        </p:nvSpPr>
        <p:spPr>
          <a:xfrm>
            <a:off x="548640" y="2999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</a:rPr>
              <a:t>📄 notes.txt — CONFLIT DÉTECTÉ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6928" y="3291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 (votre branche)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" y="34701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Bonjour, je suis sur main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36484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" y="38267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Salut, je suis sur feature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" y="40050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feature/auth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" y="41833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6928" y="43616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Choisir, combiner, puis 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" y="45399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Supprimer les marqueurs &lt;&lt;&lt; === &gt;&gt;&gt;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9160" y="29992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2C00"/>
                </a:solidFill>
              </a:rPr>
              <a:t>Étapes de résolution 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273552"/>
            <a:ext cx="4206240" cy="219456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1" name="Shape 39"/>
          <p:cNvSpPr/>
          <p:nvPr/>
        </p:nvSpPr>
        <p:spPr>
          <a:xfrm>
            <a:off x="4736592" y="3291840"/>
            <a:ext cx="182880" cy="182880"/>
          </a:xfrm>
          <a:prstGeom prst="ellipse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2" name="Text 40"/>
          <p:cNvSpPr/>
          <p:nvPr/>
        </p:nvSpPr>
        <p:spPr>
          <a:xfrm>
            <a:off x="4736592" y="3291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</a:rPr>
              <a:t>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983480" y="327355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&lt;branche&gt;  →  conflit détecté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9160" y="3520440"/>
            <a:ext cx="4206240" cy="219456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5" name="Shape 43"/>
          <p:cNvSpPr/>
          <p:nvPr/>
        </p:nvSpPr>
        <p:spPr>
          <a:xfrm>
            <a:off x="4736592" y="3538728"/>
            <a:ext cx="182880" cy="182880"/>
          </a:xfrm>
          <a:prstGeom prst="ellipse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6" name="Text 44"/>
          <p:cNvSpPr/>
          <p:nvPr/>
        </p:nvSpPr>
        <p:spPr>
          <a:xfrm>
            <a:off x="4736592" y="35387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</a:rPr>
              <a:t>2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83480" y="35204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→  voir fichiers en conflit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09160" y="3767328"/>
            <a:ext cx="4206240" cy="219456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9" name="Shape 47"/>
          <p:cNvSpPr/>
          <p:nvPr/>
        </p:nvSpPr>
        <p:spPr>
          <a:xfrm>
            <a:off x="4736592" y="3785616"/>
            <a:ext cx="182880" cy="182880"/>
          </a:xfrm>
          <a:prstGeom prst="ellipse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0" name="Text 48"/>
          <p:cNvSpPr/>
          <p:nvPr/>
        </p:nvSpPr>
        <p:spPr>
          <a:xfrm>
            <a:off x="4736592" y="3785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</a:rPr>
              <a:t>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983480" y="376732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Ouvrir le fichier, éditer manuellement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09160" y="4014216"/>
            <a:ext cx="4206240" cy="219456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3" name="Shape 51"/>
          <p:cNvSpPr/>
          <p:nvPr/>
        </p:nvSpPr>
        <p:spPr>
          <a:xfrm>
            <a:off x="4736592" y="4032504"/>
            <a:ext cx="182880" cy="182880"/>
          </a:xfrm>
          <a:prstGeom prst="ellipse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4" name="Text 52"/>
          <p:cNvSpPr/>
          <p:nvPr/>
        </p:nvSpPr>
        <p:spPr>
          <a:xfrm>
            <a:off x="4736592" y="4032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</a:rPr>
              <a:t>4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983480" y="401421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Supprimer les marqueurs &lt;&lt;&lt; === &gt;&gt;&gt;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09160" y="4261104"/>
            <a:ext cx="4206240" cy="219456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7" name="Shape 55"/>
          <p:cNvSpPr/>
          <p:nvPr/>
        </p:nvSpPr>
        <p:spPr>
          <a:xfrm>
            <a:off x="4736592" y="4279392"/>
            <a:ext cx="182880" cy="182880"/>
          </a:xfrm>
          <a:prstGeom prst="ellipse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8" name="Text 56"/>
          <p:cNvSpPr/>
          <p:nvPr/>
        </p:nvSpPr>
        <p:spPr>
          <a:xfrm>
            <a:off x="4736592" y="42793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</a:rPr>
              <a:t>5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983480" y="42611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&lt;fichier&gt;  →  marquer résolu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709160" y="4507992"/>
            <a:ext cx="4206240" cy="219456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1" name="Shape 59"/>
          <p:cNvSpPr/>
          <p:nvPr/>
        </p:nvSpPr>
        <p:spPr>
          <a:xfrm>
            <a:off x="4736592" y="4526280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2" name="Text 60"/>
          <p:cNvSpPr/>
          <p:nvPr/>
        </p:nvSpPr>
        <p:spPr>
          <a:xfrm>
            <a:off x="4736592" y="45262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</a:rPr>
              <a:t>6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983480" y="45079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 →  finaliser la fusion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09160" y="4754880"/>
            <a:ext cx="4206240" cy="219456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5" name="Shape 63"/>
          <p:cNvSpPr/>
          <p:nvPr/>
        </p:nvSpPr>
        <p:spPr>
          <a:xfrm>
            <a:off x="4736592" y="4773168"/>
            <a:ext cx="182880" cy="18288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6" name="Text 64"/>
          <p:cNvSpPr/>
          <p:nvPr/>
        </p:nvSpPr>
        <p:spPr>
          <a:xfrm>
            <a:off x="4736592" y="4773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</a:rPr>
              <a:t>★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983480" y="4754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: boutons Accept Current/Incoming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07a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Stash &amp; Git Tag — Fonctionnalités avancées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13248" cy="41148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4160520" cy="32004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" name="Text 7"/>
          <p:cNvSpPr/>
          <p:nvPr/>
        </p:nvSpPr>
        <p:spPr>
          <a:xfrm>
            <a:off x="530352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🗃️  GIT STASH — Mise en suspens temporaire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4160520" cy="457200"/>
          </a:xfrm>
          <a:prstGeom prst="rect">
            <a:avLst/>
          </a:prstGeom>
          <a:solidFill>
            <a:srgbClr val="E8E2DC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1" name="Shape 9"/>
          <p:cNvSpPr/>
          <p:nvPr/>
        </p:nvSpPr>
        <p:spPr>
          <a:xfrm>
            <a:off x="457200" y="1170432"/>
            <a:ext cx="50292" cy="4572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2" name="Text 10"/>
          <p:cNvSpPr/>
          <p:nvPr/>
        </p:nvSpPr>
        <p:spPr>
          <a:xfrm>
            <a:off x="566928" y="1170432"/>
            <a:ext cx="3995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Le stash = une "pile" pour sauvegarder des modifications en cours sans les committer. Utile quand vous devez changer de contexte rapidement (urgence, revue de code, etc.)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64208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4" name="Shape 12"/>
          <p:cNvSpPr/>
          <p:nvPr/>
        </p:nvSpPr>
        <p:spPr>
          <a:xfrm>
            <a:off x="457200" y="1664208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5" name="Text 13"/>
          <p:cNvSpPr/>
          <p:nvPr/>
        </p:nvSpPr>
        <p:spPr>
          <a:xfrm>
            <a:off x="557784" y="1664208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95855" y="1664208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Empile les modifs (WD + staging)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9" name="Text 17"/>
          <p:cNvSpPr/>
          <p:nvPr/>
        </p:nvSpPr>
        <p:spPr>
          <a:xfrm>
            <a:off x="557784" y="2011680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push -m "msg"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95855" y="2011680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Stash avec un message descriptif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359152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2" name="Shape 20"/>
          <p:cNvSpPr/>
          <p:nvPr/>
        </p:nvSpPr>
        <p:spPr>
          <a:xfrm>
            <a:off x="457200" y="2359152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3" name="Text 21"/>
          <p:cNvSpPr/>
          <p:nvPr/>
        </p:nvSpPr>
        <p:spPr>
          <a:xfrm>
            <a:off x="557784" y="2359152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list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95855" y="2359152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Afficher tous les stashs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706624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6" name="Shape 24"/>
          <p:cNvSpPr/>
          <p:nvPr/>
        </p:nvSpPr>
        <p:spPr>
          <a:xfrm>
            <a:off x="457200" y="2706624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7" name="Text 25"/>
          <p:cNvSpPr/>
          <p:nvPr/>
        </p:nvSpPr>
        <p:spPr>
          <a:xfrm>
            <a:off x="557784" y="2706624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95855" y="2706624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Appliquer le dernier stash (le supprime)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054096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0" name="Shape 28"/>
          <p:cNvSpPr/>
          <p:nvPr/>
        </p:nvSpPr>
        <p:spPr>
          <a:xfrm>
            <a:off x="457200" y="3054096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1" name="Text 29"/>
          <p:cNvSpPr/>
          <p:nvPr/>
        </p:nvSpPr>
        <p:spPr>
          <a:xfrm>
            <a:off x="557784" y="3054096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 stash@{2}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95855" y="3054096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Appliquer un stash précis (le garde)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401568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4" name="Shape 32"/>
          <p:cNvSpPr/>
          <p:nvPr/>
        </p:nvSpPr>
        <p:spPr>
          <a:xfrm>
            <a:off x="457200" y="3401568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5" name="Text 33"/>
          <p:cNvSpPr/>
          <p:nvPr/>
        </p:nvSpPr>
        <p:spPr>
          <a:xfrm>
            <a:off x="557784" y="3401568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drop stash@{0}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495855" y="3401568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Supprimer un stash de la pile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749040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8" name="Shape 36"/>
          <p:cNvSpPr/>
          <p:nvPr/>
        </p:nvSpPr>
        <p:spPr>
          <a:xfrm>
            <a:off x="457200" y="3749040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9" name="Text 37"/>
          <p:cNvSpPr/>
          <p:nvPr/>
        </p:nvSpPr>
        <p:spPr>
          <a:xfrm>
            <a:off x="557784" y="3749040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clear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495855" y="3749040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Vider TOUTE la pile de stash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096512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2" name="Shape 40"/>
          <p:cNvSpPr/>
          <p:nvPr/>
        </p:nvSpPr>
        <p:spPr>
          <a:xfrm>
            <a:off x="457200" y="4096512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3" name="Text 41"/>
          <p:cNvSpPr/>
          <p:nvPr/>
        </p:nvSpPr>
        <p:spPr>
          <a:xfrm>
            <a:off x="557784" y="4096512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branch &lt;nom&gt;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495855" y="4096512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Créer une branche depuis un stash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822960"/>
            <a:ext cx="4114800" cy="320040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6" name="Text 44"/>
          <p:cNvSpPr/>
          <p:nvPr/>
        </p:nvSpPr>
        <p:spPr>
          <a:xfrm>
            <a:off x="4873752" y="822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🏷️  GIT TAG — Marquer des versions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1170432"/>
            <a:ext cx="4114800" cy="457200"/>
          </a:xfrm>
          <a:prstGeom prst="rect">
            <a:avLst/>
          </a:prstGeom>
          <a:solidFill>
            <a:srgbClr val="E8E2DC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8" name="Shape 46"/>
          <p:cNvSpPr/>
          <p:nvPr/>
        </p:nvSpPr>
        <p:spPr>
          <a:xfrm>
            <a:off x="4800600" y="1170432"/>
            <a:ext cx="50292" cy="457200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9" name="Text 47"/>
          <p:cNvSpPr/>
          <p:nvPr/>
        </p:nvSpPr>
        <p:spPr>
          <a:xfrm>
            <a:off x="4910328" y="1170432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Les tags = des jalons permanents dans l'historique. Utilisés pour marquer les versions de production (v1.0.0, v2.3.1) selon le standard SemVer.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1664208"/>
            <a:ext cx="411480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1" name="Shape 49"/>
          <p:cNvSpPr/>
          <p:nvPr/>
        </p:nvSpPr>
        <p:spPr>
          <a:xfrm>
            <a:off x="4800600" y="1664208"/>
            <a:ext cx="50292" cy="301752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2" name="Text 50"/>
          <p:cNvSpPr/>
          <p:nvPr/>
        </p:nvSpPr>
        <p:spPr>
          <a:xfrm>
            <a:off x="4901184" y="1664208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16852" y="1664208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Lister tous les tags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00600" y="2011680"/>
            <a:ext cx="411480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5" name="Shape 53"/>
          <p:cNvSpPr/>
          <p:nvPr/>
        </p:nvSpPr>
        <p:spPr>
          <a:xfrm>
            <a:off x="4800600" y="2011680"/>
            <a:ext cx="50292" cy="301752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6" name="Text 54"/>
          <p:cNvSpPr/>
          <p:nvPr/>
        </p:nvSpPr>
        <p:spPr>
          <a:xfrm>
            <a:off x="4901184" y="2011680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v1.0.0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16852" y="2011680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Créer un tag léger sur HEAD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00600" y="2359152"/>
            <a:ext cx="411480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9" name="Shape 57"/>
          <p:cNvSpPr/>
          <p:nvPr/>
        </p:nvSpPr>
        <p:spPr>
          <a:xfrm>
            <a:off x="4800600" y="2359152"/>
            <a:ext cx="50292" cy="301752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0" name="Text 58"/>
          <p:cNvSpPr/>
          <p:nvPr/>
        </p:nvSpPr>
        <p:spPr>
          <a:xfrm>
            <a:off x="4901184" y="2359152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-a v1.0.0 -m "msg"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16852" y="2359152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Tag annoté (recommandé) avec message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00600" y="2706624"/>
            <a:ext cx="411480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3" name="Shape 61"/>
          <p:cNvSpPr/>
          <p:nvPr/>
        </p:nvSpPr>
        <p:spPr>
          <a:xfrm>
            <a:off x="4800600" y="2706624"/>
            <a:ext cx="50292" cy="301752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4" name="Text 62"/>
          <p:cNvSpPr/>
          <p:nvPr/>
        </p:nvSpPr>
        <p:spPr>
          <a:xfrm>
            <a:off x="4901184" y="2706624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-a v1.0.0 &lt;hash&gt;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816852" y="2706624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Taguer un commit passé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00600" y="3054096"/>
            <a:ext cx="411480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7" name="Shape 65"/>
          <p:cNvSpPr/>
          <p:nvPr/>
        </p:nvSpPr>
        <p:spPr>
          <a:xfrm>
            <a:off x="4800600" y="3054096"/>
            <a:ext cx="50292" cy="301752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8" name="Text 66"/>
          <p:cNvSpPr/>
          <p:nvPr/>
        </p:nvSpPr>
        <p:spPr>
          <a:xfrm>
            <a:off x="4901184" y="3054096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v1.0.0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816852" y="3054096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Pousser un tag vers le remote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00600" y="3401568"/>
            <a:ext cx="411480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1" name="Shape 69"/>
          <p:cNvSpPr/>
          <p:nvPr/>
        </p:nvSpPr>
        <p:spPr>
          <a:xfrm>
            <a:off x="4800600" y="3401568"/>
            <a:ext cx="50292" cy="301752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2" name="Text 70"/>
          <p:cNvSpPr/>
          <p:nvPr/>
        </p:nvSpPr>
        <p:spPr>
          <a:xfrm>
            <a:off x="4901184" y="3401568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--tags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816852" y="3401568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Pousser TOUS les tags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800600" y="3749040"/>
            <a:ext cx="411480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5" name="Shape 73"/>
          <p:cNvSpPr/>
          <p:nvPr/>
        </p:nvSpPr>
        <p:spPr>
          <a:xfrm>
            <a:off x="4800600" y="3749040"/>
            <a:ext cx="50292" cy="301752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6" name="Text 74"/>
          <p:cNvSpPr/>
          <p:nvPr/>
        </p:nvSpPr>
        <p:spPr>
          <a:xfrm>
            <a:off x="4901184" y="3749040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-d v1.0.0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816852" y="3749040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Supprimer un tag local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800600" y="4096512"/>
            <a:ext cx="411480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9" name="Shape 77"/>
          <p:cNvSpPr/>
          <p:nvPr/>
        </p:nvSpPr>
        <p:spPr>
          <a:xfrm>
            <a:off x="4800600" y="4096512"/>
            <a:ext cx="50292" cy="301752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0" name="Text 78"/>
          <p:cNvSpPr/>
          <p:nvPr/>
        </p:nvSpPr>
        <p:spPr>
          <a:xfrm>
            <a:off x="4901184" y="4096512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:refs/tags/v1.0.0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816852" y="4096512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Supprimer un tag distant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57200" y="4526280"/>
            <a:ext cx="8458200" cy="594360"/>
          </a:xfrm>
          <a:prstGeom prst="rect">
            <a:avLst/>
          </a:prstGeom>
          <a:solidFill>
            <a:srgbClr val="E8E2DC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3" name="Text 81"/>
          <p:cNvSpPr/>
          <p:nvPr/>
        </p:nvSpPr>
        <p:spPr>
          <a:xfrm>
            <a:off x="566928" y="4544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71A"/>
                </a:solidFill>
              </a:rPr>
              <a:t>SemVer — Versionnage sémantique :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66928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MAJOR</a:t>
            </a: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MINOR</a:t>
            </a: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ex: v2.4.1 → Changement cassant.Fonctionnalité.Correction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07b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Rebase &amp; Cherry-Pick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2999232" cy="41148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4206240" cy="292608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" name="Text 7"/>
          <p:cNvSpPr/>
          <p:nvPr/>
        </p:nvSpPr>
        <p:spPr>
          <a:xfrm>
            <a:off x="548640" y="8229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REBASE — Réécrire l'historique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143000"/>
            <a:ext cx="4206240" cy="502920"/>
          </a:xfrm>
          <a:prstGeom prst="rect">
            <a:avLst/>
          </a:prstGeom>
          <a:solidFill>
            <a:srgbClr val="E8E2DC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1" name="Shape 9"/>
          <p:cNvSpPr/>
          <p:nvPr/>
        </p:nvSpPr>
        <p:spPr>
          <a:xfrm>
            <a:off x="457200" y="1143000"/>
            <a:ext cx="50292" cy="50292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2" name="Text 10"/>
          <p:cNvSpPr/>
          <p:nvPr/>
        </p:nvSpPr>
        <p:spPr>
          <a:xfrm>
            <a:off x="566928" y="1143000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Rebase = rejoue les commits de votre branche SUR le bout d'une autre branche.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Résultat : historique linéaire et propre (vs merge qui crée un commit de fusion).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Avant rebase 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4206240" cy="594360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5" name="Text 13"/>
          <p:cNvSpPr/>
          <p:nvPr/>
        </p:nvSpPr>
        <p:spPr>
          <a:xfrm>
            <a:off x="594360" y="1993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    A─B─C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194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    └─D─E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Après rebase feature sur main :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52928"/>
            <a:ext cx="4206240" cy="38404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9" name="Text 17"/>
          <p:cNvSpPr/>
          <p:nvPr/>
        </p:nvSpPr>
        <p:spPr>
          <a:xfrm>
            <a:off x="594360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    A─B─C─D'─E'   (linéaire !)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10128"/>
            <a:ext cx="420624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1" name="Shape 19"/>
          <p:cNvSpPr/>
          <p:nvPr/>
        </p:nvSpPr>
        <p:spPr>
          <a:xfrm>
            <a:off x="457200" y="3310128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2" name="Text 20"/>
          <p:cNvSpPr/>
          <p:nvPr/>
        </p:nvSpPr>
        <p:spPr>
          <a:xfrm>
            <a:off x="557784" y="3310128"/>
            <a:ext cx="197693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8258" y="3310128"/>
            <a:ext cx="20610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Rebaser la branche courante sur main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20624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6" name="Text 24"/>
          <p:cNvSpPr/>
          <p:nvPr/>
        </p:nvSpPr>
        <p:spPr>
          <a:xfrm>
            <a:off x="557784" y="3657600"/>
            <a:ext cx="197693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-i HEAD~3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8258" y="3657600"/>
            <a:ext cx="20610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Rebase interactif : réordonner, squash…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4005072"/>
            <a:ext cx="420624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0" name="Text 28"/>
          <p:cNvSpPr/>
          <p:nvPr/>
        </p:nvSpPr>
        <p:spPr>
          <a:xfrm>
            <a:off x="557784" y="4005072"/>
            <a:ext cx="197693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--abort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18258" y="4005072"/>
            <a:ext cx="20610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Annuler en cours de rebase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4352544"/>
            <a:ext cx="420624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3" name="Shape 31"/>
          <p:cNvSpPr/>
          <p:nvPr/>
        </p:nvSpPr>
        <p:spPr>
          <a:xfrm>
            <a:off x="457200" y="4352544"/>
            <a:ext cx="50292" cy="301752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4" name="Text 32"/>
          <p:cNvSpPr/>
          <p:nvPr/>
        </p:nvSpPr>
        <p:spPr>
          <a:xfrm>
            <a:off x="557784" y="4352544"/>
            <a:ext cx="197693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--continue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18258" y="4352544"/>
            <a:ext cx="20610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Continuer après résolution de conflit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736592"/>
            <a:ext cx="4206240" cy="274320"/>
          </a:xfrm>
          <a:prstGeom prst="rect">
            <a:avLst/>
          </a:prstGeom>
          <a:solidFill>
            <a:srgbClr val="E8E2DC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7" name="Shape 35"/>
          <p:cNvSpPr/>
          <p:nvPr/>
        </p:nvSpPr>
        <p:spPr>
          <a:xfrm>
            <a:off x="457200" y="4736592"/>
            <a:ext cx="50292" cy="274320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8" name="Text 36"/>
          <p:cNvSpPr/>
          <p:nvPr/>
        </p:nvSpPr>
        <p:spPr>
          <a:xfrm>
            <a:off x="566928" y="473659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⚠️  Ne jamais rebaser des branches déjà publiées (partagées avec d'autres) !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822960"/>
            <a:ext cx="4160520" cy="29260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0" name="Text 38"/>
          <p:cNvSpPr/>
          <p:nvPr/>
        </p:nvSpPr>
        <p:spPr>
          <a:xfrm>
            <a:off x="484632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CHERRY-PICK — Sélectionner un commit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1143000"/>
            <a:ext cx="4160520" cy="502920"/>
          </a:xfrm>
          <a:prstGeom prst="rect">
            <a:avLst/>
          </a:prstGeom>
          <a:solidFill>
            <a:srgbClr val="E8E2DC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2" name="Shape 40"/>
          <p:cNvSpPr/>
          <p:nvPr/>
        </p:nvSpPr>
        <p:spPr>
          <a:xfrm>
            <a:off x="4754880" y="1143000"/>
            <a:ext cx="50292" cy="50292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3" name="Text 41"/>
          <p:cNvSpPr/>
          <p:nvPr/>
        </p:nvSpPr>
        <p:spPr>
          <a:xfrm>
            <a:off x="4864608" y="1143000"/>
            <a:ext cx="3995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Cherry-pick = appliquer UN commit spécifique (par son hash) sur la branche courante, sans merger toute une branche.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170992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D2C00"/>
                </a:solidFill>
              </a:rPr>
              <a:t>Cas d'usage 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196596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🔧 Corriger un bug en production sans merger toute la feature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224028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🚀 Backporter un fix sur une ancienne version (v1.x, v2.x)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251460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✂️  Récupérer un seul commit utile d'une branche abandonnée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2834640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9" name="Shape 47"/>
          <p:cNvSpPr/>
          <p:nvPr/>
        </p:nvSpPr>
        <p:spPr>
          <a:xfrm>
            <a:off x="4754880" y="2834640"/>
            <a:ext cx="50292" cy="30175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0" name="Text 48"/>
          <p:cNvSpPr/>
          <p:nvPr/>
        </p:nvSpPr>
        <p:spPr>
          <a:xfrm>
            <a:off x="4855464" y="2834640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&lt;hash&gt;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793535" y="2834640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Appliquer un commit sur la branche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54880" y="3182112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3" name="Shape 51"/>
          <p:cNvSpPr/>
          <p:nvPr/>
        </p:nvSpPr>
        <p:spPr>
          <a:xfrm>
            <a:off x="4754880" y="3182112"/>
            <a:ext cx="50292" cy="30175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4" name="Text 52"/>
          <p:cNvSpPr/>
          <p:nvPr/>
        </p:nvSpPr>
        <p:spPr>
          <a:xfrm>
            <a:off x="4855464" y="3182112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A..B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93535" y="3182112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Appliquer la plage de commits A à B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54880" y="3529584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7" name="Shape 55"/>
          <p:cNvSpPr/>
          <p:nvPr/>
        </p:nvSpPr>
        <p:spPr>
          <a:xfrm>
            <a:off x="4754880" y="3529584"/>
            <a:ext cx="50292" cy="30175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8" name="Text 56"/>
          <p:cNvSpPr/>
          <p:nvPr/>
        </p:nvSpPr>
        <p:spPr>
          <a:xfrm>
            <a:off x="4855464" y="3529584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-n &lt;hash&gt;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793535" y="3529584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Appliquer sans committer (staging only)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754880" y="3877056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1" name="Shape 59"/>
          <p:cNvSpPr/>
          <p:nvPr/>
        </p:nvSpPr>
        <p:spPr>
          <a:xfrm>
            <a:off x="4754880" y="3877056"/>
            <a:ext cx="50292" cy="30175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2" name="Text 60"/>
          <p:cNvSpPr/>
          <p:nvPr/>
        </p:nvSpPr>
        <p:spPr>
          <a:xfrm>
            <a:off x="4855464" y="3877056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--abort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793535" y="3877056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Annuler le cherry-pick en cours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54880" y="4224528"/>
            <a:ext cx="4160520" cy="301752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5" name="Shape 63"/>
          <p:cNvSpPr/>
          <p:nvPr/>
        </p:nvSpPr>
        <p:spPr>
          <a:xfrm>
            <a:off x="4754880" y="4224528"/>
            <a:ext cx="50292" cy="30175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6" name="Text 64"/>
          <p:cNvSpPr/>
          <p:nvPr/>
        </p:nvSpPr>
        <p:spPr>
          <a:xfrm>
            <a:off x="4855464" y="4224528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--continue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793535" y="4224528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Continuer après résolution conflit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754880" y="4617720"/>
            <a:ext cx="4160520" cy="502920"/>
          </a:xfrm>
          <a:prstGeom prst="rect">
            <a:avLst/>
          </a:prstGeom>
          <a:solidFill>
            <a:srgbClr val="E8E2DC"/>
          </a:solidFill>
          <a:ln w="635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9" name="Text 67"/>
          <p:cNvSpPr/>
          <p:nvPr/>
        </p:nvSpPr>
        <p:spPr>
          <a:xfrm>
            <a:off x="4846320" y="46360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</a:rPr>
              <a:t>Merge</a:t>
            </a:r>
            <a:r>
              <a:rPr lang="en-US" sz="900" dirty="0">
                <a:solidFill>
                  <a:srgbClr val="666666"/>
                </a:solidFill>
              </a:rPr>
              <a:t> → conserve l'historique exact | </a:t>
            </a:r>
            <a:r>
              <a:rPr lang="en-US" sz="900" b="1" dirty="0">
                <a:solidFill>
                  <a:srgbClr val="E05A47"/>
                </a:solidFill>
              </a:rPr>
              <a:t>Rebase</a:t>
            </a:r>
            <a:r>
              <a:rPr lang="en-US" sz="900" dirty="0">
                <a:solidFill>
                  <a:srgbClr val="666666"/>
                </a:solidFill>
              </a:rPr>
              <a:t> → historique propre &amp; linéaire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846320" y="48463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8971A"/>
                </a:solidFill>
              </a:rPr>
              <a:t>Règle : merge pour les features publiques, rebase pour le nettoyage local.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08a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Distant — Remote, Push, Pull, Fetch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864608" cy="4114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</a:rPr>
              <a:t>Plateformes d'hébergement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965960" cy="822960"/>
          </a:xfrm>
          <a:prstGeom prst="rect">
            <a:avLst/>
          </a:prstGeom>
          <a:solidFill>
            <a:srgbClr val="E8E2DC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</a:rPr>
              <a:t>GitHub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La plus populaire (Microsoft), open source, CI/CD, Copilot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1097280"/>
            <a:ext cx="1965960" cy="822960"/>
          </a:xfrm>
          <a:prstGeom prst="rect">
            <a:avLst/>
          </a:prstGeom>
          <a:solidFill>
            <a:srgbClr val="E8E2DC"/>
          </a:solidFill>
          <a:ln w="1270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3" name="Text 11"/>
          <p:cNvSpPr/>
          <p:nvPr/>
        </p:nvSpPr>
        <p:spPr>
          <a:xfrm>
            <a:off x="2606040" y="1097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D2C00"/>
                </a:solidFill>
              </a:rPr>
              <a:t>GitLab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9192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DevOps intégré, CI/CD natif, auto-hébergeable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1965960" cy="822960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6" name="Text 14"/>
          <p:cNvSpPr/>
          <p:nvPr/>
        </p:nvSpPr>
        <p:spPr>
          <a:xfrm>
            <a:off x="4754880" y="1097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6CC"/>
                </a:solidFill>
              </a:rPr>
              <a:t>Bitbucket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Intégration Atlassian (Jira, Confluence)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097280"/>
            <a:ext cx="1965960" cy="822960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9" name="Text 17"/>
          <p:cNvSpPr/>
          <p:nvPr/>
        </p:nvSpPr>
        <p:spPr>
          <a:xfrm>
            <a:off x="6903720" y="1097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</a:rPr>
              <a:t>Gitea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76872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Légère, open source, self-hosted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02996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</a:rPr>
              <a:t>Commandes distantes 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313432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3" name="Shape 21"/>
          <p:cNvSpPr/>
          <p:nvPr/>
        </p:nvSpPr>
        <p:spPr>
          <a:xfrm>
            <a:off x="457200" y="2313432"/>
            <a:ext cx="50292" cy="33832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4" name="Text 22"/>
          <p:cNvSpPr/>
          <p:nvPr/>
        </p:nvSpPr>
        <p:spPr>
          <a:xfrm>
            <a:off x="557784" y="231343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473452" y="231343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Cloner un dépôt (HTTPS ou SSH)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697480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7" name="Shape 25"/>
          <p:cNvSpPr/>
          <p:nvPr/>
        </p:nvSpPr>
        <p:spPr>
          <a:xfrm>
            <a:off x="457200" y="2697480"/>
            <a:ext cx="50292" cy="33832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8" name="Text 26"/>
          <p:cNvSpPr/>
          <p:nvPr/>
        </p:nvSpPr>
        <p:spPr>
          <a:xfrm>
            <a:off x="557784" y="269748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 &lt;dossier&gt;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473452" y="269748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Cloner dans un dossier spécifique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081528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1" name="Shape 29"/>
          <p:cNvSpPr/>
          <p:nvPr/>
        </p:nvSpPr>
        <p:spPr>
          <a:xfrm>
            <a:off x="457200" y="3081528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2" name="Text 30"/>
          <p:cNvSpPr/>
          <p:nvPr/>
        </p:nvSpPr>
        <p:spPr>
          <a:xfrm>
            <a:off x="557784" y="308152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&lt;url&gt;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473452" y="308152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Lier le dépôt local à un remote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465576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5" name="Shape 33"/>
          <p:cNvSpPr/>
          <p:nvPr/>
        </p:nvSpPr>
        <p:spPr>
          <a:xfrm>
            <a:off x="457200" y="3465576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6" name="Text 34"/>
          <p:cNvSpPr/>
          <p:nvPr/>
        </p:nvSpPr>
        <p:spPr>
          <a:xfrm>
            <a:off x="557784" y="346557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73452" y="346557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Lister les remotes avec leurs URL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849624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9" name="Shape 37"/>
          <p:cNvSpPr/>
          <p:nvPr/>
        </p:nvSpPr>
        <p:spPr>
          <a:xfrm>
            <a:off x="457200" y="3849624"/>
            <a:ext cx="50292" cy="3383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0" name="Text 38"/>
          <p:cNvSpPr/>
          <p:nvPr/>
        </p:nvSpPr>
        <p:spPr>
          <a:xfrm>
            <a:off x="557784" y="384962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rename origin upstream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473452" y="384962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Renommer un remote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233672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3" name="Shape 41"/>
          <p:cNvSpPr/>
          <p:nvPr/>
        </p:nvSpPr>
        <p:spPr>
          <a:xfrm>
            <a:off x="457200" y="4233672"/>
            <a:ext cx="50292" cy="3383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4" name="Text 42"/>
          <p:cNvSpPr/>
          <p:nvPr/>
        </p:nvSpPr>
        <p:spPr>
          <a:xfrm>
            <a:off x="557784" y="423367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473452" y="423367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Pousser la branche main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2313432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7" name="Shape 45"/>
          <p:cNvSpPr/>
          <p:nvPr/>
        </p:nvSpPr>
        <p:spPr>
          <a:xfrm>
            <a:off x="4846320" y="2313432"/>
            <a:ext cx="50292" cy="3383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8" name="Text 46"/>
          <p:cNvSpPr/>
          <p:nvPr/>
        </p:nvSpPr>
        <p:spPr>
          <a:xfrm>
            <a:off x="4946904" y="231343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62572" y="231343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Push + définir upstream (1ère fois)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2697480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1" name="Shape 49"/>
          <p:cNvSpPr/>
          <p:nvPr/>
        </p:nvSpPr>
        <p:spPr>
          <a:xfrm>
            <a:off x="4846320" y="2697480"/>
            <a:ext cx="50292" cy="33832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2" name="Text 50"/>
          <p:cNvSpPr/>
          <p:nvPr/>
        </p:nvSpPr>
        <p:spPr>
          <a:xfrm>
            <a:off x="4946904" y="269748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--force-with-lease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62572" y="269748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Force push sécurisé (vérifie état remote)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0" y="3081528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5" name="Shape 53"/>
          <p:cNvSpPr/>
          <p:nvPr/>
        </p:nvSpPr>
        <p:spPr>
          <a:xfrm>
            <a:off x="4846320" y="3081528"/>
            <a:ext cx="50292" cy="33832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6" name="Text 54"/>
          <p:cNvSpPr/>
          <p:nvPr/>
        </p:nvSpPr>
        <p:spPr>
          <a:xfrm>
            <a:off x="4946904" y="308152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62572" y="308152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Récupérer les infos (sans merger)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46320" y="3465576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9" name="Shape 57"/>
          <p:cNvSpPr/>
          <p:nvPr/>
        </p:nvSpPr>
        <p:spPr>
          <a:xfrm>
            <a:off x="4846320" y="3465576"/>
            <a:ext cx="50292" cy="33832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0" name="Text 58"/>
          <p:cNvSpPr/>
          <p:nvPr/>
        </p:nvSpPr>
        <p:spPr>
          <a:xfrm>
            <a:off x="4946904" y="346557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--all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62572" y="346557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Récupérer depuis tous les remotes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46320" y="3849624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3" name="Shape 61"/>
          <p:cNvSpPr/>
          <p:nvPr/>
        </p:nvSpPr>
        <p:spPr>
          <a:xfrm>
            <a:off x="4846320" y="3849624"/>
            <a:ext cx="50292" cy="33832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4" name="Text 62"/>
          <p:cNvSpPr/>
          <p:nvPr/>
        </p:nvSpPr>
        <p:spPr>
          <a:xfrm>
            <a:off x="4946904" y="384962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862572" y="384962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Fetch + merge (ou rebase si configuré)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46320" y="4233672"/>
            <a:ext cx="4114800" cy="33832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7" name="Shape 65"/>
          <p:cNvSpPr/>
          <p:nvPr/>
        </p:nvSpPr>
        <p:spPr>
          <a:xfrm>
            <a:off x="4846320" y="4233672"/>
            <a:ext cx="50292" cy="33832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8" name="Text 66"/>
          <p:cNvSpPr/>
          <p:nvPr/>
        </p:nvSpPr>
        <p:spPr>
          <a:xfrm>
            <a:off x="4946904" y="423367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--rebase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862572" y="423367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Fetch + rebase (historique linéaire)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57200" y="4736592"/>
            <a:ext cx="8458200" cy="384048"/>
          </a:xfrm>
          <a:prstGeom prst="rect">
            <a:avLst/>
          </a:prstGeom>
          <a:solidFill>
            <a:srgbClr val="E8E2DC"/>
          </a:solidFill>
          <a:ln w="635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1" name="Text 69"/>
          <p:cNvSpPr/>
          <p:nvPr/>
        </p:nvSpPr>
        <p:spPr>
          <a:xfrm>
            <a:off x="566928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: git clone https://github.com/user/repo.git  |  SSH : git clone git@github.com:user/repo.git  (recommandé pour les développeurs)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08b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Forks &amp; Collaboration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315968" cy="4114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</a:rPr>
              <a:t>Workflow d'une Pull Request (PR)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1078992" cy="914400"/>
          </a:xfrm>
          <a:prstGeom prst="rect">
            <a:avLst/>
          </a:prstGeom>
          <a:solidFill>
            <a:srgbClr val="E8E2DC"/>
          </a:solidFill>
          <a:ln w="1270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0" name="Shape 8"/>
          <p:cNvSpPr/>
          <p:nvPr/>
        </p:nvSpPr>
        <p:spPr>
          <a:xfrm>
            <a:off x="457200" y="1115568"/>
            <a:ext cx="1078992" cy="329184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Fork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Copier le dépôt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dans votre compte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54480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00784" y="1115568"/>
            <a:ext cx="1078992" cy="914400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5" name="Shape 13"/>
          <p:cNvSpPr/>
          <p:nvPr/>
        </p:nvSpPr>
        <p:spPr>
          <a:xfrm>
            <a:off x="1700784" y="1115568"/>
            <a:ext cx="1078992" cy="329184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6" name="Text 14"/>
          <p:cNvSpPr/>
          <p:nvPr/>
        </p:nvSpPr>
        <p:spPr>
          <a:xfrm>
            <a:off x="1700784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Clone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46504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Cloner votre fork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en local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98064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44368" y="1115568"/>
            <a:ext cx="1078992" cy="914400"/>
          </a:xfrm>
          <a:prstGeom prst="rect">
            <a:avLst/>
          </a:prstGeom>
          <a:solidFill>
            <a:srgbClr val="E8E2DC"/>
          </a:solidFill>
          <a:ln w="12700">
            <a:solidFill>
              <a:srgbClr val="7B4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0" name="Shape 18"/>
          <p:cNvSpPr/>
          <p:nvPr/>
        </p:nvSpPr>
        <p:spPr>
          <a:xfrm>
            <a:off x="2944368" y="1115568"/>
            <a:ext cx="1078992" cy="329184"/>
          </a:xfrm>
          <a:prstGeom prst="rect">
            <a:avLst/>
          </a:prstGeom>
          <a:solidFill>
            <a:srgbClr val="7B4EA6"/>
          </a:solidFill>
          <a:ln w="12700">
            <a:solidFill>
              <a:srgbClr val="7B4EA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1" name="Text 19"/>
          <p:cNvSpPr/>
          <p:nvPr/>
        </p:nvSpPr>
        <p:spPr>
          <a:xfrm>
            <a:off x="2944368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Branch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90088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git checkout -b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feature/ma-feature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41648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87952" y="1115568"/>
            <a:ext cx="1078992" cy="914400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5" name="Shape 23"/>
          <p:cNvSpPr/>
          <p:nvPr/>
        </p:nvSpPr>
        <p:spPr>
          <a:xfrm>
            <a:off x="4187952" y="1115568"/>
            <a:ext cx="1078992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6" name="Text 24"/>
          <p:cNvSpPr/>
          <p:nvPr/>
        </p:nvSpPr>
        <p:spPr>
          <a:xfrm>
            <a:off x="4187952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Code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33672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Coder, commit,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push vers votre fork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5232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31536" y="1115568"/>
            <a:ext cx="1078992" cy="914400"/>
          </a:xfrm>
          <a:prstGeom prst="rect">
            <a:avLst/>
          </a:prstGeom>
          <a:solidFill>
            <a:srgbClr val="E8E2DC"/>
          </a:solidFill>
          <a:ln w="12700">
            <a:solidFill>
              <a:srgbClr val="C8971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0" name="Shape 28"/>
          <p:cNvSpPr/>
          <p:nvPr/>
        </p:nvSpPr>
        <p:spPr>
          <a:xfrm>
            <a:off x="5431536" y="1115568"/>
            <a:ext cx="1078992" cy="329184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1" name="Text 29"/>
          <p:cNvSpPr/>
          <p:nvPr/>
        </p:nvSpPr>
        <p:spPr>
          <a:xfrm>
            <a:off x="5431536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PR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77256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Ouvrir une PR sur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GitHub/GitLab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28816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1115568"/>
            <a:ext cx="1078992" cy="914400"/>
          </a:xfrm>
          <a:prstGeom prst="rect">
            <a:avLst/>
          </a:prstGeom>
          <a:solidFill>
            <a:srgbClr val="E8E2DC"/>
          </a:solidFill>
          <a:ln w="12700">
            <a:solidFill>
              <a:srgbClr val="E05A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5" name="Shape 33"/>
          <p:cNvSpPr/>
          <p:nvPr/>
        </p:nvSpPr>
        <p:spPr>
          <a:xfrm>
            <a:off x="6675120" y="1115568"/>
            <a:ext cx="1078992" cy="329184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6" name="Text 34"/>
          <p:cNvSpPr/>
          <p:nvPr/>
        </p:nvSpPr>
        <p:spPr>
          <a:xfrm>
            <a:off x="6675120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Review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20840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Équipe relit, commente,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demande modifs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72400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18704" y="1115568"/>
            <a:ext cx="1078992" cy="914400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40" name="Shape 38"/>
          <p:cNvSpPr/>
          <p:nvPr/>
        </p:nvSpPr>
        <p:spPr>
          <a:xfrm>
            <a:off x="7918704" y="1115568"/>
            <a:ext cx="1078992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1" name="Text 39"/>
          <p:cNvSpPr/>
          <p:nvPr/>
        </p:nvSpPr>
        <p:spPr>
          <a:xfrm>
            <a:off x="7918704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F0EB"/>
                </a:solidFill>
              </a:rPr>
              <a:t>Merge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64424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Validation → merge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dans la branche cible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2176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</a:rPr>
              <a:t>Anatomie d'une bonne PR 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2468880"/>
            <a:ext cx="416052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5" name="Text 43"/>
          <p:cNvSpPr/>
          <p:nvPr/>
        </p:nvSpPr>
        <p:spPr>
          <a:xfrm>
            <a:off x="548640" y="246888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</a:rPr>
              <a:t>📝 Titre clair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920240" y="2468880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Résume le changement en une ligne (verbe d'action)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2852928"/>
            <a:ext cx="416052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8" name="Text 46"/>
          <p:cNvSpPr/>
          <p:nvPr/>
        </p:nvSpPr>
        <p:spPr>
          <a:xfrm>
            <a:off x="548640" y="2852928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</a:rPr>
              <a:t>📄 Description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920240" y="2852928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Contexte, pourquoi ce changement, comment tester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3236976"/>
            <a:ext cx="416052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1" name="Text 49"/>
          <p:cNvSpPr/>
          <p:nvPr/>
        </p:nvSpPr>
        <p:spPr>
          <a:xfrm>
            <a:off x="548640" y="323697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</a:rPr>
              <a:t>🔗 Lien issues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920240" y="3236976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Closes #42 — ferme automatiquement l'issue au merge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3621024"/>
            <a:ext cx="416052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4" name="Text 52"/>
          <p:cNvSpPr/>
          <p:nvPr/>
        </p:nvSpPr>
        <p:spPr>
          <a:xfrm>
            <a:off x="548640" y="3621024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</a:rPr>
              <a:t>🖼️  Screenshots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920240" y="3621024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Avant/après pour les changements UI/UX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4005072"/>
            <a:ext cx="416052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7" name="Text 55"/>
          <p:cNvSpPr/>
          <p:nvPr/>
        </p:nvSpPr>
        <p:spPr>
          <a:xfrm>
            <a:off x="548640" y="4005072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</a:rPr>
              <a:t>✅ Checklist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920240" y="4005072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Tests passent, docs mises à jour, linting OK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" y="4389120"/>
            <a:ext cx="4160520" cy="338328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0" name="Text 58"/>
          <p:cNvSpPr/>
          <p:nvPr/>
        </p:nvSpPr>
        <p:spPr>
          <a:xfrm>
            <a:off x="548640" y="438912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</a:rPr>
              <a:t>👤 Reviewers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920240" y="4389120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Assigner les bonnes personnes pour la revue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800600" y="2176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D2C00"/>
                </a:solidFill>
              </a:rPr>
              <a:t>Bonnes pratiques de Code Review :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800600" y="2468880"/>
            <a:ext cx="4114800" cy="301752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4" name="Text 62"/>
          <p:cNvSpPr/>
          <p:nvPr/>
        </p:nvSpPr>
        <p:spPr>
          <a:xfrm>
            <a:off x="4846320" y="2468880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🎯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166360" y="2468880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Réviser le code, pas la personne — rester constructif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800600" y="2816352"/>
            <a:ext cx="4114800" cy="301752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7" name="Text 65"/>
          <p:cNvSpPr/>
          <p:nvPr/>
        </p:nvSpPr>
        <p:spPr>
          <a:xfrm>
            <a:off x="4846320" y="2816352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📏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166360" y="281635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Garder les PR petites (&lt; 400 lignes de préférence)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800600" y="3163824"/>
            <a:ext cx="4114800" cy="301752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0" name="Text 68"/>
          <p:cNvSpPr/>
          <p:nvPr/>
        </p:nvSpPr>
        <p:spPr>
          <a:xfrm>
            <a:off x="4846320" y="316382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166360" y="3163824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Répondre rapidement (&lt; 24h) pour ne pas bloquer l'équipe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00600" y="3511296"/>
            <a:ext cx="4114800" cy="301752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3" name="Text 71"/>
          <p:cNvSpPr/>
          <p:nvPr/>
        </p:nvSpPr>
        <p:spPr>
          <a:xfrm>
            <a:off x="4846320" y="3511296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❓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166360" y="3511296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Poser des questions plutôt qu'imposer des solutions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800600" y="3858768"/>
            <a:ext cx="4114800" cy="301752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6" name="Text 74"/>
          <p:cNvSpPr/>
          <p:nvPr/>
        </p:nvSpPr>
        <p:spPr>
          <a:xfrm>
            <a:off x="4846320" y="3858768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✨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166360" y="3858768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Féliciter le bon code — le feedback positif compte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800600" y="4206240"/>
            <a:ext cx="4114800" cy="301752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9" name="Text 77"/>
          <p:cNvSpPr/>
          <p:nvPr/>
        </p:nvSpPr>
        <p:spPr>
          <a:xfrm>
            <a:off x="4846320" y="4206240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🔁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166360" y="4206240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Demander des itérations si nécessaire, ne pas merger trop vite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800600" y="4553712"/>
            <a:ext cx="4114800" cy="301752"/>
          </a:xfrm>
          <a:prstGeom prst="rect">
            <a:avLst/>
          </a:prstGeom>
          <a:solidFill>
            <a:srgbClr val="E8E2DC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2" name="Text 80"/>
          <p:cNvSpPr/>
          <p:nvPr/>
        </p:nvSpPr>
        <p:spPr>
          <a:xfrm>
            <a:off x="4846320" y="4553712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🧪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166360" y="455371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Toujours vérifier que les tests passent avant le merge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Professionnels Git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3438144" cy="411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2715768" cy="4224528"/>
          </a:xfrm>
          <a:prstGeom prst="rect">
            <a:avLst/>
          </a:prstGeom>
          <a:solidFill>
            <a:srgbClr val="E8E2DC"/>
          </a:solidFill>
          <a:ln w="1905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2715768" cy="34747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" name="Text 8"/>
          <p:cNvSpPr/>
          <p:nvPr/>
        </p:nvSpPr>
        <p:spPr>
          <a:xfrm>
            <a:off x="438912" y="80467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B"/>
                </a:solidFill>
              </a:rPr>
              <a:t>Git 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</a:rPr>
              <a:t>Branches 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3990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• main — Production uniquement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16367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• develop — Intégration continue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18745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• feature/* — Nouvelles fonctionnalités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211226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• release/* — Préparation de version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3500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• hotfix/* — Corrections urgentes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660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</a:rPr>
              <a:t>✅ Avantages 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803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Adapté aux releases planifiées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5488" y="309981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Isolation parfaite des features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5488" y="33192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Standard pour logiciels versionnés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3538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</a:rPr>
              <a:t>❌ Limites 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7581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Complexe (5 types de branches)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5488" y="3977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Lent pour du déploiement continu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4736592"/>
            <a:ext cx="2542032" cy="228600"/>
          </a:xfrm>
          <a:prstGeom prst="rect">
            <a:avLst/>
          </a:prstGeom>
          <a:solidFill>
            <a:srgbClr val="EDE8E2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5" name="Text 23"/>
          <p:cNvSpPr/>
          <p:nvPr/>
        </p:nvSpPr>
        <p:spPr>
          <a:xfrm>
            <a:off x="502920" y="47365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66CC"/>
                </a:solidFill>
              </a:rPr>
              <a:t>🎯 Pour : Librairies, apps avec versions numérotées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73552" y="804672"/>
            <a:ext cx="2715768" cy="4224528"/>
          </a:xfrm>
          <a:prstGeom prst="rect">
            <a:avLst/>
          </a:prstGeom>
          <a:solidFill>
            <a:srgbClr val="E8E2DC"/>
          </a:solidFill>
          <a:ln w="1905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7" name="Shape 25"/>
          <p:cNvSpPr/>
          <p:nvPr/>
        </p:nvSpPr>
        <p:spPr>
          <a:xfrm>
            <a:off x="3273552" y="804672"/>
            <a:ext cx="2715768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8" name="Text 26"/>
          <p:cNvSpPr/>
          <p:nvPr/>
        </p:nvSpPr>
        <p:spPr>
          <a:xfrm>
            <a:off x="3346704" y="80467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B"/>
                </a:solidFill>
              </a:rPr>
              <a:t>GitHub Flow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64992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</a:rPr>
              <a:t>Branches 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83280" y="13990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• main — Toujours déployable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3280" y="16367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• feature/&lt;nom&gt; — Une branche par feature/fix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18745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• (pas de develop ni de release)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64992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</a:rPr>
              <a:t>✅ Avantages 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83280" y="24048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Simple, rapide à apprendre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83280" y="26243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Idéal pour CI/CD et déploiement continu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83280" y="28437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PR systématique → code review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64992" y="3063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</a:rPr>
              <a:t>❌ Limites 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83280" y="32826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Moins adapté aux versions multiples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83280" y="35021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Nécessite une bonne couverture de tests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364992" y="4736592"/>
            <a:ext cx="2542032" cy="228600"/>
          </a:xfrm>
          <a:prstGeom prst="rect">
            <a:avLst/>
          </a:prstGeom>
          <a:solidFill>
            <a:srgbClr val="EDE8E2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1" name="Text 39"/>
          <p:cNvSpPr/>
          <p:nvPr/>
        </p:nvSpPr>
        <p:spPr>
          <a:xfrm>
            <a:off x="3410712" y="47365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CAF50"/>
                </a:solidFill>
              </a:rPr>
              <a:t>🎯 Pour : SaaS, apps web, déploiements fréquents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181344" y="804672"/>
            <a:ext cx="2715768" cy="4224528"/>
          </a:xfrm>
          <a:prstGeom prst="rect">
            <a:avLst/>
          </a:prstGeom>
          <a:solidFill>
            <a:srgbClr val="E8E2DC"/>
          </a:solidFill>
          <a:ln w="190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43" name="Shape 41"/>
          <p:cNvSpPr/>
          <p:nvPr/>
        </p:nvSpPr>
        <p:spPr>
          <a:xfrm>
            <a:off x="6181344" y="804672"/>
            <a:ext cx="2715768" cy="34747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4" name="Text 42"/>
          <p:cNvSpPr/>
          <p:nvPr/>
        </p:nvSpPr>
        <p:spPr>
          <a:xfrm>
            <a:off x="6254496" y="80467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B"/>
                </a:solidFill>
              </a:rPr>
              <a:t>Trunk-Based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72784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</a:rPr>
              <a:t>Branches 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91072" y="13990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• main (trunk) — Branche unique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91072" y="16367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• feature flags — Cacher le code non prêt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91072" y="18745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• short-lived branches — &lt; 2 jours de vie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72784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</a:rPr>
              <a:t>✅ Avantages 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91072" y="24048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Intégration continue maximale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91072" y="26243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Pas de merge hell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291072" y="28437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Adopté par Google, Facebook, Netflix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272784" y="3063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</a:rPr>
              <a:t>❌ Limites 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91072" y="32826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Nécessite feature flags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91072" y="35021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• Discipline d'équipe très élevée requise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72784" y="4736592"/>
            <a:ext cx="2542032" cy="228600"/>
          </a:xfrm>
          <a:prstGeom prst="rect">
            <a:avLst/>
          </a:prstGeom>
          <a:solidFill>
            <a:srgbClr val="EDE8E2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7" name="Text 55"/>
          <p:cNvSpPr/>
          <p:nvPr/>
        </p:nvSpPr>
        <p:spPr>
          <a:xfrm>
            <a:off x="6318504" y="47365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D2C00"/>
                </a:solidFill>
              </a:rPr>
              <a:t>🎯 Pour : Grandes équipes, DevOps mature, Google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Hooks — Automatisation &amp; CI/CD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096512" cy="4114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8458200" cy="411480"/>
          </a:xfrm>
          <a:prstGeom prst="rect">
            <a:avLst/>
          </a:prstGeom>
          <a:solidFill>
            <a:srgbClr val="E8E2DC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" name="Shape 7"/>
          <p:cNvSpPr/>
          <p:nvPr/>
        </p:nvSpPr>
        <p:spPr>
          <a:xfrm>
            <a:off x="457200" y="822960"/>
            <a:ext cx="50292" cy="41148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" name="Text 8"/>
          <p:cNvSpPr/>
          <p:nvPr/>
        </p:nvSpPr>
        <p:spPr>
          <a:xfrm>
            <a:off x="566928" y="822960"/>
            <a:ext cx="8293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Les hooks Git = scripts automatiquement exécutés lors d'événements Git (commit, push, merge…). Situés dans .git/hooks/ — ils permettent d'automatiser le linting, les tests, le formatage, etc.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D2C00"/>
                </a:solidFill>
              </a:rPr>
              <a:t>Hooks côté CLIENT 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572768"/>
            <a:ext cx="4160520" cy="32004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3" name="Shape 11"/>
          <p:cNvSpPr/>
          <p:nvPr/>
        </p:nvSpPr>
        <p:spPr>
          <a:xfrm>
            <a:off x="457200" y="1572768"/>
            <a:ext cx="50292" cy="32004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4" name="Text 12"/>
          <p:cNvSpPr/>
          <p:nvPr/>
        </p:nvSpPr>
        <p:spPr>
          <a:xfrm>
            <a:off x="557784" y="157276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pre-commit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95855" y="157276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Avant chaque commit : linting, formatage, tests unitaires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4160520" cy="32004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7" name="Shape 15"/>
          <p:cNvSpPr/>
          <p:nvPr/>
        </p:nvSpPr>
        <p:spPr>
          <a:xfrm>
            <a:off x="457200" y="1938528"/>
            <a:ext cx="50292" cy="32004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8" name="Text 16"/>
          <p:cNvSpPr/>
          <p:nvPr/>
        </p:nvSpPr>
        <p:spPr>
          <a:xfrm>
            <a:off x="557784" y="193852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prepare-commit-msg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95855" y="193852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Préremplir le message de commit (template, ticket)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304288"/>
            <a:ext cx="4160520" cy="32004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1" name="Shape 19"/>
          <p:cNvSpPr/>
          <p:nvPr/>
        </p:nvSpPr>
        <p:spPr>
          <a:xfrm>
            <a:off x="457200" y="2304288"/>
            <a:ext cx="50292" cy="32004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2" name="Text 20"/>
          <p:cNvSpPr/>
          <p:nvPr/>
        </p:nvSpPr>
        <p:spPr>
          <a:xfrm>
            <a:off x="557784" y="230428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commit-msg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95855" y="230428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Valider le format du message (Conventional Commits)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670048"/>
            <a:ext cx="4160520" cy="32004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5" name="Shape 23"/>
          <p:cNvSpPr/>
          <p:nvPr/>
        </p:nvSpPr>
        <p:spPr>
          <a:xfrm>
            <a:off x="457200" y="2670048"/>
            <a:ext cx="50292" cy="32004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6" name="Text 24"/>
          <p:cNvSpPr/>
          <p:nvPr/>
        </p:nvSpPr>
        <p:spPr>
          <a:xfrm>
            <a:off x="557784" y="267004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post-commit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95855" y="267004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Notification après commit (Slack, log, etc.)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035808"/>
            <a:ext cx="4160520" cy="32004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9" name="Shape 27"/>
          <p:cNvSpPr/>
          <p:nvPr/>
        </p:nvSpPr>
        <p:spPr>
          <a:xfrm>
            <a:off x="457200" y="3035808"/>
            <a:ext cx="50292" cy="32004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0" name="Text 28"/>
          <p:cNvSpPr/>
          <p:nvPr/>
        </p:nvSpPr>
        <p:spPr>
          <a:xfrm>
            <a:off x="557784" y="303580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pre-push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495855" y="303580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Avant push : tests, sécurité, build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401568"/>
            <a:ext cx="4160520" cy="32004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3" name="Shape 31"/>
          <p:cNvSpPr/>
          <p:nvPr/>
        </p:nvSpPr>
        <p:spPr>
          <a:xfrm>
            <a:off x="457200" y="3401568"/>
            <a:ext cx="50292" cy="32004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4" name="Text 32"/>
          <p:cNvSpPr/>
          <p:nvPr/>
        </p:nvSpPr>
        <p:spPr>
          <a:xfrm>
            <a:off x="557784" y="340156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post-merge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495855" y="340156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Après merge : npm install, migrations DB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767328"/>
            <a:ext cx="4160520" cy="32004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7" name="Shape 35"/>
          <p:cNvSpPr/>
          <p:nvPr/>
        </p:nvSpPr>
        <p:spPr>
          <a:xfrm>
            <a:off x="457200" y="3767328"/>
            <a:ext cx="50292" cy="32004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8" name="Text 36"/>
          <p:cNvSpPr/>
          <p:nvPr/>
        </p:nvSpPr>
        <p:spPr>
          <a:xfrm>
            <a:off x="557784" y="376732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pre-rebase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495855" y="376732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Empêcher le rebase de branches protégées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00600" y="129844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CC"/>
                </a:solidFill>
              </a:rPr>
              <a:t>Hooks côté SERVEUR :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1572768"/>
            <a:ext cx="4114800" cy="32004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2" name="Shape 40"/>
          <p:cNvSpPr/>
          <p:nvPr/>
        </p:nvSpPr>
        <p:spPr>
          <a:xfrm>
            <a:off x="4800600" y="1572768"/>
            <a:ext cx="50292" cy="32004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3" name="Text 41"/>
          <p:cNvSpPr/>
          <p:nvPr/>
        </p:nvSpPr>
        <p:spPr>
          <a:xfrm>
            <a:off x="4901184" y="1572768"/>
            <a:ext cx="1933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pre-receive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16852" y="1572768"/>
            <a:ext cx="20162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Valider les pushes entrants (permissions, taille)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1938528"/>
            <a:ext cx="4114800" cy="32004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6" name="Shape 44"/>
          <p:cNvSpPr/>
          <p:nvPr/>
        </p:nvSpPr>
        <p:spPr>
          <a:xfrm>
            <a:off x="4800600" y="1938528"/>
            <a:ext cx="50292" cy="32004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7" name="Text 45"/>
          <p:cNvSpPr/>
          <p:nvPr/>
        </p:nvSpPr>
        <p:spPr>
          <a:xfrm>
            <a:off x="4901184" y="1938528"/>
            <a:ext cx="1933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16852" y="1938528"/>
            <a:ext cx="20162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Valider par branche avant accept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0600" y="2304288"/>
            <a:ext cx="4114800" cy="32004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0" name="Shape 48"/>
          <p:cNvSpPr/>
          <p:nvPr/>
        </p:nvSpPr>
        <p:spPr>
          <a:xfrm>
            <a:off x="4800600" y="2304288"/>
            <a:ext cx="50292" cy="32004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1" name="Text 49"/>
          <p:cNvSpPr/>
          <p:nvPr/>
        </p:nvSpPr>
        <p:spPr>
          <a:xfrm>
            <a:off x="4901184" y="2304288"/>
            <a:ext cx="1933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post-receive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16852" y="2304288"/>
            <a:ext cx="20162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Déclencher déploiement, notify CI/CD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00600" y="2670048"/>
            <a:ext cx="4114800" cy="32004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4" name="Shape 52"/>
          <p:cNvSpPr/>
          <p:nvPr/>
        </p:nvSpPr>
        <p:spPr>
          <a:xfrm>
            <a:off x="4800600" y="2670048"/>
            <a:ext cx="50292" cy="32004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5" name="Text 53"/>
          <p:cNvSpPr/>
          <p:nvPr/>
        </p:nvSpPr>
        <p:spPr>
          <a:xfrm>
            <a:off x="4901184" y="2670048"/>
            <a:ext cx="1933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post-update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16852" y="2670048"/>
            <a:ext cx="20162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Mise à jour de l'index du serveur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00600" y="312724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2C00"/>
                </a:solidFill>
              </a:rPr>
              <a:t>Exemple pratique — pre-commit avec Husky (Node.js) :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00600" y="3401568"/>
            <a:ext cx="4114800" cy="1664208"/>
          </a:xfrm>
          <a:prstGeom prst="rect">
            <a:avLst/>
          </a:prstGeom>
          <a:solidFill>
            <a:srgbClr val="F0EBE3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59" name="Text 57"/>
          <p:cNvSpPr/>
          <p:nvPr/>
        </p:nvSpPr>
        <p:spPr>
          <a:xfrm>
            <a:off x="4910328" y="34564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--save-dev husky lint-staged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910328" y="36347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npx husky init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910328" y="38130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.husky/pre-commit :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910328" y="39913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lint-staged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910328" y="41696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package.json :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910328" y="43479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"lint-staged": {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910328" y="45262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"*.js": ["eslint --fix", "git add"]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910328" y="47045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"*.{css,scss}": ["prettier --write"]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910328" y="48828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82346" y="3305764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Conventional Commits — Standard de messages :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" y="3675888"/>
            <a:ext cx="4160520" cy="15544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0" name="Shape 68"/>
          <p:cNvSpPr/>
          <p:nvPr/>
        </p:nvSpPr>
        <p:spPr>
          <a:xfrm>
            <a:off x="457200" y="3675888"/>
            <a:ext cx="50292" cy="1554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1" name="Text 69"/>
          <p:cNvSpPr/>
          <p:nvPr/>
        </p:nvSpPr>
        <p:spPr>
          <a:xfrm>
            <a:off x="557784" y="367588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495855" y="367588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Nouvelle fonctionnalité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57200" y="3858768"/>
            <a:ext cx="4160520" cy="15544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4" name="Shape 72"/>
          <p:cNvSpPr/>
          <p:nvPr/>
        </p:nvSpPr>
        <p:spPr>
          <a:xfrm>
            <a:off x="457200" y="3858768"/>
            <a:ext cx="50292" cy="15544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5" name="Text 73"/>
          <p:cNvSpPr/>
          <p:nvPr/>
        </p:nvSpPr>
        <p:spPr>
          <a:xfrm>
            <a:off x="557784" y="385876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495855" y="385876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Correction de bug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7200" y="4041648"/>
            <a:ext cx="4160520" cy="15544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8" name="Shape 76"/>
          <p:cNvSpPr/>
          <p:nvPr/>
        </p:nvSpPr>
        <p:spPr>
          <a:xfrm>
            <a:off x="457200" y="4041648"/>
            <a:ext cx="50292" cy="1554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9" name="Text 77"/>
          <p:cNvSpPr/>
          <p:nvPr/>
        </p:nvSpPr>
        <p:spPr>
          <a:xfrm>
            <a:off x="557784" y="404164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495855" y="404164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Documentation uniquement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57200" y="4224528"/>
            <a:ext cx="4160520" cy="15544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2" name="Shape 80"/>
          <p:cNvSpPr/>
          <p:nvPr/>
        </p:nvSpPr>
        <p:spPr>
          <a:xfrm>
            <a:off x="457200" y="4224528"/>
            <a:ext cx="50292" cy="15544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3" name="Text 81"/>
          <p:cNvSpPr/>
          <p:nvPr/>
        </p:nvSpPr>
        <p:spPr>
          <a:xfrm>
            <a:off x="557784" y="422452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style: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495855" y="422452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Formatage (pas de logique)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57200" y="4407408"/>
            <a:ext cx="4160520" cy="15544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6" name="Shape 84"/>
          <p:cNvSpPr/>
          <p:nvPr/>
        </p:nvSpPr>
        <p:spPr>
          <a:xfrm>
            <a:off x="457200" y="4407408"/>
            <a:ext cx="50292" cy="155448"/>
          </a:xfrm>
          <a:prstGeom prst="rect">
            <a:avLst/>
          </a:prstGeom>
          <a:solidFill>
            <a:srgbClr val="7B4EA6"/>
          </a:solidFill>
          <a:ln w="12700">
            <a:solidFill>
              <a:srgbClr val="7B4EA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7" name="Text 85"/>
          <p:cNvSpPr/>
          <p:nvPr/>
        </p:nvSpPr>
        <p:spPr>
          <a:xfrm>
            <a:off x="557784" y="440740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4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refactor: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2495855" y="440740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Refactorisation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57200" y="4590288"/>
            <a:ext cx="4160520" cy="15544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0" name="Shape 88"/>
          <p:cNvSpPr/>
          <p:nvPr/>
        </p:nvSpPr>
        <p:spPr>
          <a:xfrm>
            <a:off x="457200" y="4590288"/>
            <a:ext cx="50292" cy="15544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1" name="Text 89"/>
          <p:cNvSpPr/>
          <p:nvPr/>
        </p:nvSpPr>
        <p:spPr>
          <a:xfrm>
            <a:off x="557784" y="459028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495855" y="459028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Ajout/modification de tests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57200" y="4773168"/>
            <a:ext cx="4160520" cy="15544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4" name="Shape 92"/>
          <p:cNvSpPr/>
          <p:nvPr/>
        </p:nvSpPr>
        <p:spPr>
          <a:xfrm>
            <a:off x="457200" y="4773168"/>
            <a:ext cx="50292" cy="15544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5" name="Text 93"/>
          <p:cNvSpPr/>
          <p:nvPr/>
        </p:nvSpPr>
        <p:spPr>
          <a:xfrm>
            <a:off x="557784" y="477316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chore: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2495855" y="477316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Tâches de maintenance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57200" y="4956048"/>
            <a:ext cx="4160520" cy="155448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8" name="Shape 96"/>
          <p:cNvSpPr/>
          <p:nvPr/>
        </p:nvSpPr>
        <p:spPr>
          <a:xfrm>
            <a:off x="457200" y="4956048"/>
            <a:ext cx="50292" cy="15544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9" name="Text 97"/>
          <p:cNvSpPr/>
          <p:nvPr/>
        </p:nvSpPr>
        <p:spPr>
          <a:xfrm>
            <a:off x="557784" y="495604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BREAKING CHANGE: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2495855" y="495604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Changement cassant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Git — Sécurité &amp; Productivité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13248" cy="411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CC"/>
                </a:solidFill>
              </a:rPr>
              <a:t>✅ Rédiger de bons messages de commit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4160520" cy="1600200"/>
          </a:xfrm>
          <a:prstGeom prst="rect">
            <a:avLst/>
          </a:prstGeom>
          <a:solidFill>
            <a:srgbClr val="F0EBE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" name="Text 8"/>
          <p:cNvSpPr/>
          <p:nvPr/>
        </p:nvSpPr>
        <p:spPr>
          <a:xfrm>
            <a:off x="566928" y="115214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BON message de commit 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29844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feat(auth): ajouter authentification JWT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66928" y="144475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6928" y="159105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Implémenter la génération de tokens JWT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6928" y="173736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Ajouter middleware de validation côté API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188366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Configurer l'expiration à 24h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20299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Fixes #127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217627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6928" y="232257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MAUVAIS 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246888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stuff / update / wip / ok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00600" y="1097280"/>
            <a:ext cx="4114800" cy="548640"/>
          </a:xfrm>
          <a:prstGeom prst="rect">
            <a:avLst/>
          </a:prstGeom>
          <a:solidFill>
            <a:srgbClr val="E8E2DC"/>
          </a:solidFill>
          <a:ln w="1016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1" name="Text 19"/>
          <p:cNvSpPr/>
          <p:nvPr/>
        </p:nvSpPr>
        <p:spPr>
          <a:xfrm>
            <a:off x="4892040" y="1133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CC"/>
                </a:solidFill>
              </a:rPr>
              <a:t>🎯 Une chose par commit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371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Ne mélanger pas les fonctionnalités. Un commit = un sujet précis.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1719072"/>
            <a:ext cx="4114800" cy="548640"/>
          </a:xfrm>
          <a:prstGeom prst="rect">
            <a:avLst/>
          </a:prstGeom>
          <a:solidFill>
            <a:srgbClr val="E8E2DC"/>
          </a:solidFill>
          <a:ln w="10160">
            <a:solidFill>
              <a:srgbClr val="C8971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4" name="Text 22"/>
          <p:cNvSpPr/>
          <p:nvPr/>
        </p:nvSpPr>
        <p:spPr>
          <a:xfrm>
            <a:off x="4892040" y="17556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71A"/>
                </a:solidFill>
              </a:rPr>
              <a:t>📏 50/72 regel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993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Titre ≤ 50 car. Corps ≤ 72 car/ligne. Ligne vide entre les deux.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2340864"/>
            <a:ext cx="4114800" cy="548640"/>
          </a:xfrm>
          <a:prstGeom prst="rect">
            <a:avLst/>
          </a:prstGeom>
          <a:solidFill>
            <a:srgbClr val="E8E2DC"/>
          </a:solidFill>
          <a:ln w="1016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7" name="Text 25"/>
          <p:cNvSpPr/>
          <p:nvPr/>
        </p:nvSpPr>
        <p:spPr>
          <a:xfrm>
            <a:off x="489204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⚡ Verbe impératif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6151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"Ajouter…" et non "J'ai ajouté…" ou "Ajout de…"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2962656"/>
            <a:ext cx="4114800" cy="548640"/>
          </a:xfrm>
          <a:prstGeom prst="rect">
            <a:avLst/>
          </a:prstGeom>
          <a:solidFill>
            <a:srgbClr val="E8E2DC"/>
          </a:solidFill>
          <a:ln w="10160">
            <a:solidFill>
              <a:srgbClr val="CC3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0" name="Text 28"/>
          <p:cNvSpPr/>
          <p:nvPr/>
        </p:nvSpPr>
        <p:spPr>
          <a:xfrm>
            <a:off x="4892040" y="2999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3300"/>
                </a:solidFill>
              </a:rPr>
              <a:t>🔒 Jamais de secrets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2369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Fichiers .env, mots de passe, clés API → JAMAIS dans Git !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278892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</a:rPr>
              <a:t>🔐 Sécurité — Ce qu'il ne faut JAMAIS committer 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4023360" cy="338328"/>
          </a:xfrm>
          <a:prstGeom prst="rect">
            <a:avLst/>
          </a:prstGeom>
          <a:solidFill>
            <a:srgbClr val="F5F0EB"/>
          </a:solidFill>
          <a:ln w="635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4" name="Text 32"/>
          <p:cNvSpPr/>
          <p:nvPr/>
        </p:nvSpPr>
        <p:spPr>
          <a:xfrm>
            <a:off x="548640" y="306324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🚫 .env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359152" y="306324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Variables d'environnement et secrets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3447288"/>
            <a:ext cx="4023360" cy="338328"/>
          </a:xfrm>
          <a:prstGeom prst="rect">
            <a:avLst/>
          </a:prstGeom>
          <a:solidFill>
            <a:srgbClr val="F5F0EB"/>
          </a:solidFill>
          <a:ln w="635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7" name="Text 35"/>
          <p:cNvSpPr/>
          <p:nvPr/>
        </p:nvSpPr>
        <p:spPr>
          <a:xfrm>
            <a:off x="548640" y="344728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🚫 *.pem / *.key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359152" y="34472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Clés privées SSL/TLS, certificats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063240"/>
            <a:ext cx="4023360" cy="338328"/>
          </a:xfrm>
          <a:prstGeom prst="rect">
            <a:avLst/>
          </a:prstGeom>
          <a:solidFill>
            <a:srgbClr val="F5F0EB"/>
          </a:solidFill>
          <a:ln w="635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0" name="Text 38"/>
          <p:cNvSpPr/>
          <p:nvPr/>
        </p:nvSpPr>
        <p:spPr>
          <a:xfrm>
            <a:off x="4800600" y="306324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🚫 config/*.yml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611112" y="306324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Config avec mots de passe en clair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3447288"/>
            <a:ext cx="4023360" cy="338328"/>
          </a:xfrm>
          <a:prstGeom prst="rect">
            <a:avLst/>
          </a:prstGeom>
          <a:solidFill>
            <a:srgbClr val="F5F0EB"/>
          </a:solidFill>
          <a:ln w="635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3" name="Text 41"/>
          <p:cNvSpPr/>
          <p:nvPr/>
        </p:nvSpPr>
        <p:spPr>
          <a:xfrm>
            <a:off x="4800600" y="344728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🚫 id_rsa / id_ed25519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11112" y="34472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Clés SSH privées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3858768"/>
            <a:ext cx="8458200" cy="365760"/>
          </a:xfrm>
          <a:prstGeom prst="rect">
            <a:avLst/>
          </a:prstGeom>
          <a:solidFill>
            <a:srgbClr val="E8E2DC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6" name="Shape 44"/>
          <p:cNvSpPr/>
          <p:nvPr/>
        </p:nvSpPr>
        <p:spPr>
          <a:xfrm>
            <a:off x="457200" y="3858768"/>
            <a:ext cx="50292" cy="365760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7" name="Text 45"/>
          <p:cNvSpPr/>
          <p:nvPr/>
        </p:nvSpPr>
        <p:spPr>
          <a:xfrm>
            <a:off x="566928" y="3858768"/>
            <a:ext cx="8293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Si un secret a été commité : git filter-branch ou BFG Repo-Cleaner + rotation immédiate des credentials ! Ne jamais considérer un secret committé comme sûr.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31596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</a:rPr>
              <a:t>🚀 Tips de productivité :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4590288"/>
            <a:ext cx="4114800" cy="22860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0" name="Shape 48"/>
          <p:cNvSpPr/>
          <p:nvPr/>
        </p:nvSpPr>
        <p:spPr>
          <a:xfrm>
            <a:off x="457200" y="4590288"/>
            <a:ext cx="50292" cy="228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1" name="Text 49"/>
          <p:cNvSpPr/>
          <p:nvPr/>
        </p:nvSpPr>
        <p:spPr>
          <a:xfrm>
            <a:off x="557784" y="4590288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bisect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473452" y="4590288"/>
            <a:ext cx="2016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Trouver quel commit a introduit un bug par dichotomie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4" name="Shape 52"/>
          <p:cNvSpPr/>
          <p:nvPr/>
        </p:nvSpPr>
        <p:spPr>
          <a:xfrm>
            <a:off x="457200" y="4846320"/>
            <a:ext cx="50292" cy="228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5" name="Text 53"/>
          <p:cNvSpPr/>
          <p:nvPr/>
        </p:nvSpPr>
        <p:spPr>
          <a:xfrm>
            <a:off x="557784" y="4846320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blame &lt;f&gt;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473452" y="4846320"/>
            <a:ext cx="2016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Voir qui a écrit chaque ligne d'un fichier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46320" y="4590288"/>
            <a:ext cx="4114800" cy="22860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8" name="Shape 56"/>
          <p:cNvSpPr/>
          <p:nvPr/>
        </p:nvSpPr>
        <p:spPr>
          <a:xfrm>
            <a:off x="4846320" y="4590288"/>
            <a:ext cx="50292" cy="228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9" name="Text 57"/>
          <p:cNvSpPr/>
          <p:nvPr/>
        </p:nvSpPr>
        <p:spPr>
          <a:xfrm>
            <a:off x="4946904" y="4590288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shortlog -sn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862572" y="4590288"/>
            <a:ext cx="2016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Statistiques de contributions par auteur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846320" y="4846320"/>
            <a:ext cx="4114800" cy="228600"/>
          </a:xfrm>
          <a:prstGeom prst="rect">
            <a:avLst/>
          </a:prstGeom>
          <a:solidFill>
            <a:srgbClr val="E8E2DC"/>
          </a:solidFill>
          <a:ln w="635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2" name="Shape 60"/>
          <p:cNvSpPr/>
          <p:nvPr/>
        </p:nvSpPr>
        <p:spPr>
          <a:xfrm>
            <a:off x="4846320" y="4846320"/>
            <a:ext cx="50292" cy="228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3" name="Text 61"/>
          <p:cNvSpPr/>
          <p:nvPr/>
        </p:nvSpPr>
        <p:spPr>
          <a:xfrm>
            <a:off x="4946904" y="4846320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reflog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862572" y="4846320"/>
            <a:ext cx="2016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Historique de TOUTES vos actions Git (filet de sécurité)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12a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Ressources de Qualité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096512" cy="4114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Shape 6"/>
          <p:cNvSpPr/>
          <p:nvPr/>
        </p:nvSpPr>
        <p:spPr>
          <a:xfrm>
            <a:off x="411480" y="804672"/>
            <a:ext cx="4160520" cy="2057400"/>
          </a:xfrm>
          <a:prstGeom prst="rect">
            <a:avLst/>
          </a:prstGeom>
          <a:solidFill>
            <a:srgbClr val="E8E2DC"/>
          </a:solidFill>
          <a:ln w="1270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9" name="Shape 7"/>
          <p:cNvSpPr/>
          <p:nvPr/>
        </p:nvSpPr>
        <p:spPr>
          <a:xfrm>
            <a:off x="411480" y="804672"/>
            <a:ext cx="4160520" cy="320040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" name="Text 8"/>
          <p:cNvSpPr/>
          <p:nvPr/>
        </p:nvSpPr>
        <p:spPr>
          <a:xfrm>
            <a:off x="484632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📖 Documentation Officielle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1704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D2C00"/>
                </a:solidFill>
              </a:rPr>
              <a:t>Pro Git Book (fr)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git-scm.com/book/fr/v2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536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Référence absolue, gratuite en ligne, couvre tout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17190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D2C00"/>
                </a:solidFill>
              </a:rPr>
              <a:t>Git Reference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9202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git-scm.com/docs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0848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Documentation complète de chaque commande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22677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D2C00"/>
                </a:solidFill>
              </a:rPr>
              <a:t>GitHub Docs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4688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docs.github.com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263347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Guide complet sur GitHub, PR, Actions CI/CD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46320" y="804672"/>
            <a:ext cx="4160520" cy="2057400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1" name="Shape 19"/>
          <p:cNvSpPr/>
          <p:nvPr/>
        </p:nvSpPr>
        <p:spPr>
          <a:xfrm>
            <a:off x="4846320" y="804672"/>
            <a:ext cx="4160520" cy="32004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2" name="Text 20"/>
          <p:cNvSpPr/>
          <p:nvPr/>
        </p:nvSpPr>
        <p:spPr>
          <a:xfrm>
            <a:off x="4919472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🎮 Apprentissage Interactif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11704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6CC"/>
                </a:solidFill>
              </a:rPr>
              <a:t>Learn Git Branching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137160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learngitbranching.js.org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37760" y="1536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Exercices visuels sur les branches — EXCELLENT pour débuter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17190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6CC"/>
                </a:solidFill>
              </a:rPr>
              <a:t>Oh My Git!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19202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ohmygit.org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20848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Jeu d'apprentissage Git open source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22677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6CC"/>
                </a:solidFill>
              </a:rPr>
              <a:t>Katacoda Git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24688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katacoda.com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37760" y="263347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Scénarios interactifs en ligne (terminal dans le navigateur)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" y="2980944"/>
            <a:ext cx="4160520" cy="2057400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3" name="Shape 31"/>
          <p:cNvSpPr/>
          <p:nvPr/>
        </p:nvSpPr>
        <p:spPr>
          <a:xfrm>
            <a:off x="411480" y="2980944"/>
            <a:ext cx="416052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4" name="Text 32"/>
          <p:cNvSpPr/>
          <p:nvPr/>
        </p:nvSpPr>
        <p:spPr>
          <a:xfrm>
            <a:off x="484632" y="29809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🎓 Tutoriels &amp; Cours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33467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</a:rPr>
              <a:t>Atlassian Git Tutorials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354787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atlassian.com/git/tutorials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37124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Tutoriels très complets, illustrés, tous niveaux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" y="38953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</a:rPr>
              <a:t>OpenClassrooms Git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409651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openclassrooms.com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" y="42611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Cours en français avec exercices pratiques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2920" y="44439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</a:rPr>
              <a:t>Missing Semester (MIT)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46451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missing.csail.mit.edu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48097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Cours Git du MIT, rigueur académique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46320" y="2980944"/>
            <a:ext cx="4160520" cy="2057400"/>
          </a:xfrm>
          <a:prstGeom prst="rect">
            <a:avLst/>
          </a:prstGeom>
          <a:solidFill>
            <a:srgbClr val="E8E2DC"/>
          </a:solidFill>
          <a:ln w="12700">
            <a:solidFill>
              <a:srgbClr val="7B4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45" name="Shape 43"/>
          <p:cNvSpPr/>
          <p:nvPr/>
        </p:nvSpPr>
        <p:spPr>
          <a:xfrm>
            <a:off x="4846320" y="2980944"/>
            <a:ext cx="4160520" cy="320040"/>
          </a:xfrm>
          <a:prstGeom prst="rect">
            <a:avLst/>
          </a:prstGeom>
          <a:solidFill>
            <a:srgbClr val="7B4EA6"/>
          </a:solidFill>
          <a:ln w="12700">
            <a:solidFill>
              <a:srgbClr val="7B4EA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6" name="Text 44"/>
          <p:cNvSpPr/>
          <p:nvPr/>
        </p:nvSpPr>
        <p:spPr>
          <a:xfrm>
            <a:off x="4919472" y="29809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🛠️  Outils Recommandés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37760" y="33467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4EA6"/>
                </a:solidFill>
              </a:rPr>
              <a:t>GitKraken / SourceTree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37760" y="354787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gitkraken.com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37760" y="37124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Interface graphique Git professionnelle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937760" y="38953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4EA6"/>
                </a:solidFill>
              </a:rPr>
              <a:t>gitignore.io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37760" y="409651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gitignore.io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37760" y="42611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Générer des .gitignore sur mesure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37760" y="44439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4EA6"/>
                </a:solidFill>
              </a:rPr>
              <a:t>Conventional Commits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37760" y="46451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6CC"/>
                </a:solidFill>
              </a:rPr>
              <a:t>conventionalcommits.org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37760" y="48097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Standard de messages de commit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11480" y="4846320"/>
            <a:ext cx="8503920" cy="256032"/>
          </a:xfrm>
          <a:prstGeom prst="rect">
            <a:avLst/>
          </a:prstGeom>
          <a:solidFill>
            <a:srgbClr val="E8E2DC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7" name="Shape 55"/>
          <p:cNvSpPr/>
          <p:nvPr/>
        </p:nvSpPr>
        <p:spPr>
          <a:xfrm>
            <a:off x="411480" y="4846320"/>
            <a:ext cx="50292" cy="256032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8" name="Text 56"/>
          <p:cNvSpPr/>
          <p:nvPr/>
        </p:nvSpPr>
        <p:spPr>
          <a:xfrm>
            <a:off x="521208" y="4846320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💡 Conseil : Pratiquer quotidiennement vaut mieux que lire. Ouvrir un projet personnel et utiliser Git dès aujourd'hui !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12b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Pratique — Fil rouge complet sur notes.txt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522976" cy="411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Shape 6"/>
          <p:cNvSpPr/>
          <p:nvPr/>
        </p:nvSpPr>
        <p:spPr>
          <a:xfrm>
            <a:off x="457200" y="804672"/>
            <a:ext cx="8458200" cy="347472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" name="Shape 7"/>
          <p:cNvSpPr/>
          <p:nvPr/>
        </p:nvSpPr>
        <p:spPr>
          <a:xfrm>
            <a:off x="457200" y="804672"/>
            <a:ext cx="50292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" name="Text 8"/>
          <p:cNvSpPr/>
          <p:nvPr/>
        </p:nvSpPr>
        <p:spPr>
          <a:xfrm>
            <a:off x="566928" y="804672"/>
            <a:ext cx="8293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🎯 Objectif : Créer un mini-projet notes.txt de zéro, versionner, brancher, fusionner, corriger et synchroniser avec GitHub.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225296"/>
            <a:ext cx="4069080" cy="1801368"/>
          </a:xfrm>
          <a:prstGeom prst="rect">
            <a:avLst/>
          </a:prstGeom>
          <a:solidFill>
            <a:srgbClr val="F0EBE3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2" name="Shape 10"/>
          <p:cNvSpPr/>
          <p:nvPr/>
        </p:nvSpPr>
        <p:spPr>
          <a:xfrm>
            <a:off x="457200" y="1225296"/>
            <a:ext cx="4069080" cy="2926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3" name="Shape 11"/>
          <p:cNvSpPr/>
          <p:nvPr/>
        </p:nvSpPr>
        <p:spPr>
          <a:xfrm>
            <a:off x="530352" y="1298448"/>
            <a:ext cx="137160" cy="137160"/>
          </a:xfrm>
          <a:prstGeom prst="ellipse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4" name="Shape 12"/>
          <p:cNvSpPr/>
          <p:nvPr/>
        </p:nvSpPr>
        <p:spPr>
          <a:xfrm>
            <a:off x="713232" y="1298448"/>
            <a:ext cx="137160" cy="137160"/>
          </a:xfrm>
          <a:prstGeom prst="ellipse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5" name="Shape 13"/>
          <p:cNvSpPr/>
          <p:nvPr/>
        </p:nvSpPr>
        <p:spPr>
          <a:xfrm>
            <a:off x="896112" y="1298448"/>
            <a:ext cx="137160" cy="1371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6" name="Text 14"/>
          <p:cNvSpPr/>
          <p:nvPr/>
        </p:nvSpPr>
        <p:spPr>
          <a:xfrm>
            <a:off x="1143000" y="12252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0EB"/>
                </a:solidFill>
              </a:rPr>
              <a:t>1. Initialisation &amp; Premier commit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15453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mon-projet &amp;&amp; cd mon-projet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8640" y="1707185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8640" y="186903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empty Git repository in .git/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8640" y="203088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"# Mes notes de cours" &gt; notes.txt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48640" y="2192731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 -s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235458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 notes.txt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48640" y="2516429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notes.txt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8640" y="267827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"feat: initialiser le projet avec notes.txt"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8640" y="284012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(root-commit) a1b2c3d] feat: initialiser le projet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28032" y="1225296"/>
            <a:ext cx="4069080" cy="1801368"/>
          </a:xfrm>
          <a:prstGeom prst="rect">
            <a:avLst/>
          </a:prstGeom>
          <a:solidFill>
            <a:srgbClr val="F0EBE3"/>
          </a:solidFill>
          <a:ln w="1270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7" name="Shape 25"/>
          <p:cNvSpPr/>
          <p:nvPr/>
        </p:nvSpPr>
        <p:spPr>
          <a:xfrm>
            <a:off x="4828032" y="1225296"/>
            <a:ext cx="4069080" cy="29260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8" name="Shape 26"/>
          <p:cNvSpPr/>
          <p:nvPr/>
        </p:nvSpPr>
        <p:spPr>
          <a:xfrm>
            <a:off x="4901184" y="1298448"/>
            <a:ext cx="137160" cy="137160"/>
          </a:xfrm>
          <a:prstGeom prst="ellipse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9" name="Shape 27"/>
          <p:cNvSpPr/>
          <p:nvPr/>
        </p:nvSpPr>
        <p:spPr>
          <a:xfrm>
            <a:off x="5084064" y="1298448"/>
            <a:ext cx="137160" cy="137160"/>
          </a:xfrm>
          <a:prstGeom prst="ellipse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0" name="Shape 28"/>
          <p:cNvSpPr/>
          <p:nvPr/>
        </p:nvSpPr>
        <p:spPr>
          <a:xfrm>
            <a:off x="5266944" y="1298448"/>
            <a:ext cx="137160" cy="1371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1" name="Text 29"/>
          <p:cNvSpPr/>
          <p:nvPr/>
        </p:nvSpPr>
        <p:spPr>
          <a:xfrm>
            <a:off x="5513832" y="12252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0EB"/>
                </a:solidFill>
              </a:rPr>
              <a:t>2. Modifications &amp; Inspection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15453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"Git = système de contrôle de version" &gt;&gt; notes.txt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19472" y="1707185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diff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19472" y="186903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@@ -1 +1,2 @@  # Mes notes de cours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19472" y="203088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+Git = système de contrôle de version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19472" y="2192731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-p  # Ajout interactif !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19472" y="235458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"feat: ajouter définition Git"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19472" y="2516429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919472" y="267827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b3c4d5e feat: ajouter définition Git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19472" y="284012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 feat: initialiser le projet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57200" y="3145536"/>
            <a:ext cx="4069080" cy="1801368"/>
          </a:xfrm>
          <a:prstGeom prst="rect">
            <a:avLst/>
          </a:prstGeom>
          <a:solidFill>
            <a:srgbClr val="F0EBE3"/>
          </a:solidFill>
          <a:ln w="12700">
            <a:solidFill>
              <a:srgbClr val="7B4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42" name="Shape 40"/>
          <p:cNvSpPr/>
          <p:nvPr/>
        </p:nvSpPr>
        <p:spPr>
          <a:xfrm>
            <a:off x="457200" y="3145536"/>
            <a:ext cx="4069080" cy="292608"/>
          </a:xfrm>
          <a:prstGeom prst="rect">
            <a:avLst/>
          </a:prstGeom>
          <a:solidFill>
            <a:srgbClr val="7B4EA6"/>
          </a:solidFill>
          <a:ln w="12700">
            <a:solidFill>
              <a:srgbClr val="7B4EA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3" name="Shape 41"/>
          <p:cNvSpPr/>
          <p:nvPr/>
        </p:nvSpPr>
        <p:spPr>
          <a:xfrm>
            <a:off x="530352" y="3218688"/>
            <a:ext cx="137160" cy="137160"/>
          </a:xfrm>
          <a:prstGeom prst="ellipse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4" name="Shape 42"/>
          <p:cNvSpPr/>
          <p:nvPr/>
        </p:nvSpPr>
        <p:spPr>
          <a:xfrm>
            <a:off x="713232" y="3218688"/>
            <a:ext cx="137160" cy="137160"/>
          </a:xfrm>
          <a:prstGeom prst="ellipse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5" name="Shape 43"/>
          <p:cNvSpPr/>
          <p:nvPr/>
        </p:nvSpPr>
        <p:spPr>
          <a:xfrm>
            <a:off x="896112" y="3218688"/>
            <a:ext cx="137160" cy="1371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6" name="Text 44"/>
          <p:cNvSpPr/>
          <p:nvPr/>
        </p:nvSpPr>
        <p:spPr>
          <a:xfrm>
            <a:off x="1143000" y="31455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0EB"/>
                </a:solidFill>
              </a:rPr>
              <a:t>3. Branches &amp; Feature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346557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feature/commandes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48640" y="3627425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"Commandes: git init, add, commit" &gt;&gt; notes.txt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48640" y="378927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-am "feat: lister les commandes de base"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48640" y="395112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main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48640" y="4112971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feature/commandes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48640" y="427482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Updating a1b2c3d..e5f6g7h Fast-forward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48640" y="4436669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-d feature/commandes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48640" y="459851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branch feature/commandes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28032" y="3145536"/>
            <a:ext cx="4069080" cy="1801368"/>
          </a:xfrm>
          <a:prstGeom prst="rect">
            <a:avLst/>
          </a:prstGeom>
          <a:solidFill>
            <a:srgbClr val="F0EBE3"/>
          </a:solidFill>
          <a:ln w="1270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56" name="Shape 54"/>
          <p:cNvSpPr/>
          <p:nvPr/>
        </p:nvSpPr>
        <p:spPr>
          <a:xfrm>
            <a:off x="4828032" y="3145536"/>
            <a:ext cx="4069080" cy="29260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7" name="Shape 55"/>
          <p:cNvSpPr/>
          <p:nvPr/>
        </p:nvSpPr>
        <p:spPr>
          <a:xfrm>
            <a:off x="4901184" y="3218688"/>
            <a:ext cx="137160" cy="137160"/>
          </a:xfrm>
          <a:prstGeom prst="ellipse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8" name="Shape 56"/>
          <p:cNvSpPr/>
          <p:nvPr/>
        </p:nvSpPr>
        <p:spPr>
          <a:xfrm>
            <a:off x="5084064" y="3218688"/>
            <a:ext cx="137160" cy="137160"/>
          </a:xfrm>
          <a:prstGeom prst="ellipse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9" name="Shape 57"/>
          <p:cNvSpPr/>
          <p:nvPr/>
        </p:nvSpPr>
        <p:spPr>
          <a:xfrm>
            <a:off x="5266944" y="3218688"/>
            <a:ext cx="137160" cy="1371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0" name="Text 58"/>
          <p:cNvSpPr/>
          <p:nvPr/>
        </p:nvSpPr>
        <p:spPr>
          <a:xfrm>
            <a:off x="5513832" y="31455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0EB"/>
                </a:solidFill>
              </a:rPr>
              <a:t>4. Stash, Revert &amp; Sécurité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919472" y="346557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"info confidentielle" &gt;&gt; notes.txt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919472" y="3627425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 -m "work in progress"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919472" y="378927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working directory and index state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919472" y="395112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 list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919472" y="4112971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stash@{0}: On main: work in progress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919472" y="427482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 pop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919472" y="4436669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Annuler un mauvais commit de façon sûre :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919472" y="459851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revert HEAD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919472" y="476036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h8i9j0k] Revert "feat: ajouter définition Git"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" y="5029200"/>
            <a:ext cx="8458200" cy="274320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1" name="Shape 69"/>
          <p:cNvSpPr/>
          <p:nvPr/>
        </p:nvSpPr>
        <p:spPr>
          <a:xfrm>
            <a:off x="457200" y="5029200"/>
            <a:ext cx="50292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2" name="Text 70"/>
          <p:cNvSpPr/>
          <p:nvPr/>
        </p:nvSpPr>
        <p:spPr>
          <a:xfrm>
            <a:off x="566928" y="5029200"/>
            <a:ext cx="8293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⭐ Suite : Créer un repo GitHub → git remote add origin &lt;url&gt; → git push -u origin main → Inviter un collaborateur → PR !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12c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— Connexion GitHub &amp; Collaboration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645152" cy="411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71A"/>
                </a:solidFill>
              </a:rPr>
              <a:t>Étape 1 — Configurer SSH pour GitHub 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4160520" cy="2011680"/>
          </a:xfrm>
          <a:prstGeom prst="rect">
            <a:avLst/>
          </a:prstGeom>
          <a:solidFill>
            <a:srgbClr val="F0EBE3"/>
          </a:solidFill>
          <a:ln w="6350">
            <a:solidFill>
              <a:srgbClr val="6666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4160520" cy="256032"/>
          </a:xfrm>
          <a:prstGeom prst="rect">
            <a:avLst/>
          </a:prstGeom>
          <a:solidFill>
            <a:srgbClr val="E8E2DC"/>
          </a:solidFill>
          <a:ln w="12700">
            <a:solidFill>
              <a:srgbClr val="E8E2D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1" name="Shape 9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2" name="Shape 10"/>
          <p:cNvSpPr/>
          <p:nvPr/>
        </p:nvSpPr>
        <p:spPr>
          <a:xfrm>
            <a:off x="713232" y="1161288"/>
            <a:ext cx="118872" cy="118872"/>
          </a:xfrm>
          <a:prstGeom prst="ellipse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3" name="Shape 11"/>
          <p:cNvSpPr/>
          <p:nvPr/>
        </p:nvSpPr>
        <p:spPr>
          <a:xfrm>
            <a:off x="877824" y="1161288"/>
            <a:ext cx="118872" cy="11887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4" name="Text 12"/>
          <p:cNvSpPr/>
          <p:nvPr/>
        </p:nvSpPr>
        <p:spPr>
          <a:xfrm>
            <a:off x="566928" y="1389888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Générer une clé SSH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1581912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ssh-keygen -t ed25519 -C "moi@email.com"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1773936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Copier la clé publique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928" y="1965960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~/.ssh/id_ed25519.pub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2157984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Ajouter sur GitHub : Settings &gt; SSH Keys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" y="2350008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Tester la connexion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" y="2542032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-T git@github.com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" y="2734056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 username! You've successfully authenticated.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Étape 2 — Publier le projet sur GitHub 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4160520" cy="1417320"/>
          </a:xfrm>
          <a:prstGeom prst="rect">
            <a:avLst/>
          </a:prstGeom>
          <a:solidFill>
            <a:srgbClr val="F0EBE3"/>
          </a:solidFill>
          <a:ln w="6350">
            <a:solidFill>
              <a:srgbClr val="6666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4160520" cy="256032"/>
          </a:xfrm>
          <a:prstGeom prst="rect">
            <a:avLst/>
          </a:prstGeom>
          <a:solidFill>
            <a:srgbClr val="E8E2DC"/>
          </a:solidFill>
          <a:ln w="12700">
            <a:solidFill>
              <a:srgbClr val="E8E2D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5" name="Shape 23"/>
          <p:cNvSpPr/>
          <p:nvPr/>
        </p:nvSpPr>
        <p:spPr>
          <a:xfrm>
            <a:off x="548640" y="3538728"/>
            <a:ext cx="118872" cy="118872"/>
          </a:xfrm>
          <a:prstGeom prst="ellipse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6" name="Shape 24"/>
          <p:cNvSpPr/>
          <p:nvPr/>
        </p:nvSpPr>
        <p:spPr>
          <a:xfrm>
            <a:off x="713232" y="3538728"/>
            <a:ext cx="118872" cy="118872"/>
          </a:xfrm>
          <a:prstGeom prst="ellipse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7" name="Shape 25"/>
          <p:cNvSpPr/>
          <p:nvPr/>
        </p:nvSpPr>
        <p:spPr>
          <a:xfrm>
            <a:off x="877824" y="3538728"/>
            <a:ext cx="118872" cy="11887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8" name="Text 26"/>
          <p:cNvSpPr/>
          <p:nvPr/>
        </p:nvSpPr>
        <p:spPr>
          <a:xfrm>
            <a:off x="566928" y="3767328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Lier le projet local au remote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6928" y="3959352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git@github.com:user/notes.git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6928" y="4151376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" y="4343400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Enumerating objects: 5, done.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" y="4535424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'main' set up to track 'origin/main'.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00600" y="82296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CC"/>
                </a:solidFill>
              </a:rPr>
              <a:t>Étape 3 — Workflow collaborateur 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1097280"/>
            <a:ext cx="4114800" cy="2011680"/>
          </a:xfrm>
          <a:prstGeom prst="rect">
            <a:avLst/>
          </a:prstGeom>
          <a:solidFill>
            <a:srgbClr val="F0EBE3"/>
          </a:solidFill>
          <a:ln w="6350">
            <a:solidFill>
              <a:srgbClr val="6666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5" name="Shape 33"/>
          <p:cNvSpPr/>
          <p:nvPr/>
        </p:nvSpPr>
        <p:spPr>
          <a:xfrm>
            <a:off x="4800600" y="1097280"/>
            <a:ext cx="4114800" cy="256032"/>
          </a:xfrm>
          <a:prstGeom prst="rect">
            <a:avLst/>
          </a:prstGeom>
          <a:solidFill>
            <a:srgbClr val="E8E2DC"/>
          </a:solidFill>
          <a:ln w="12700">
            <a:solidFill>
              <a:srgbClr val="E8E2D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6" name="Shape 34"/>
          <p:cNvSpPr/>
          <p:nvPr/>
        </p:nvSpPr>
        <p:spPr>
          <a:xfrm>
            <a:off x="4892040" y="1161288"/>
            <a:ext cx="118872" cy="118872"/>
          </a:xfrm>
          <a:prstGeom prst="ellipse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7" name="Shape 35"/>
          <p:cNvSpPr/>
          <p:nvPr/>
        </p:nvSpPr>
        <p:spPr>
          <a:xfrm>
            <a:off x="5056632" y="1161288"/>
            <a:ext cx="118872" cy="118872"/>
          </a:xfrm>
          <a:prstGeom prst="ellipse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8" name="Shape 36"/>
          <p:cNvSpPr/>
          <p:nvPr/>
        </p:nvSpPr>
        <p:spPr>
          <a:xfrm>
            <a:off x="5221224" y="1161288"/>
            <a:ext cx="118872" cy="11887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9" name="Text 37"/>
          <p:cNvSpPr/>
          <p:nvPr/>
        </p:nvSpPr>
        <p:spPr>
          <a:xfrm>
            <a:off x="4910328" y="1389888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collaborateur clone le projet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10328" y="1581912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git@github.com:user/notes.git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10328" y="1773936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notes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10328" y="1965960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Il crée sa branche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10328" y="2157984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feature/ajouts-bob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10328" y="2350008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"Branches = versions parallèles" &gt;&gt; notes.txt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10328" y="2542032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-am "feat: ajouter note sur les branches"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10328" y="2734056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feature/ajouts-bob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00600" y="3200400"/>
            <a:ext cx="4114800" cy="1691640"/>
          </a:xfrm>
          <a:prstGeom prst="rect">
            <a:avLst/>
          </a:prstGeom>
          <a:solidFill>
            <a:srgbClr val="F0EBE3"/>
          </a:solidFill>
          <a:ln w="6350">
            <a:solidFill>
              <a:srgbClr val="6666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48" name="Shape 46"/>
          <p:cNvSpPr/>
          <p:nvPr/>
        </p:nvSpPr>
        <p:spPr>
          <a:xfrm>
            <a:off x="4800600" y="3200400"/>
            <a:ext cx="4114800" cy="256032"/>
          </a:xfrm>
          <a:prstGeom prst="rect">
            <a:avLst/>
          </a:prstGeom>
          <a:solidFill>
            <a:srgbClr val="E8E2DC"/>
          </a:solidFill>
          <a:ln w="12700">
            <a:solidFill>
              <a:srgbClr val="E8E2D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9" name="Shape 47"/>
          <p:cNvSpPr/>
          <p:nvPr/>
        </p:nvSpPr>
        <p:spPr>
          <a:xfrm>
            <a:off x="4892040" y="3264408"/>
            <a:ext cx="118872" cy="118872"/>
          </a:xfrm>
          <a:prstGeom prst="ellipse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0" name="Shape 48"/>
          <p:cNvSpPr/>
          <p:nvPr/>
        </p:nvSpPr>
        <p:spPr>
          <a:xfrm>
            <a:off x="5056632" y="3264408"/>
            <a:ext cx="118872" cy="118872"/>
          </a:xfrm>
          <a:prstGeom prst="ellipse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1" name="Shape 49"/>
          <p:cNvSpPr/>
          <p:nvPr/>
        </p:nvSpPr>
        <p:spPr>
          <a:xfrm>
            <a:off x="5221224" y="3264408"/>
            <a:ext cx="118872" cy="11887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2" name="Text 50"/>
          <p:cNvSpPr/>
          <p:nvPr/>
        </p:nvSpPr>
        <p:spPr>
          <a:xfrm>
            <a:off x="4910328" y="3493008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Vous récupérez ses modifications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10328" y="3685032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fetch origin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10328" y="3877056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--all --graph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10328" y="4069080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c8d9e0f (origin/feature/ajouts-bob) feat: ...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10328" y="4261104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b3c4d5e (HEAD -&gt; main, origin/main) feat: ...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10328" y="4453128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Après merge de la PR sur GitHub 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910328" y="4645152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pull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10328" y="4837176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8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Already up to date.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B"/>
                </a:solidFill>
              </a:rPr>
              <a:t>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Aide-Mémoire — Cheat Sheet Complet Git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535424" cy="4114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2788920" cy="1965960"/>
          </a:xfrm>
          <a:prstGeom prst="rect">
            <a:avLst/>
          </a:prstGeom>
          <a:solidFill>
            <a:srgbClr val="E8E2DC"/>
          </a:solidFill>
          <a:ln w="12700">
            <a:solidFill>
              <a:srgbClr val="006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2788920" cy="29260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" name="Text 8"/>
          <p:cNvSpPr/>
          <p:nvPr/>
        </p:nvSpPr>
        <p:spPr>
          <a:xfrm>
            <a:off x="438912" y="804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133856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2" name="Text 10"/>
          <p:cNvSpPr/>
          <p:nvPr/>
        </p:nvSpPr>
        <p:spPr>
          <a:xfrm>
            <a:off x="457200" y="1133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783080" y="11338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Créer un dépôt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1480" y="1463040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5" name="Text 13"/>
          <p:cNvSpPr/>
          <p:nvPr/>
        </p:nvSpPr>
        <p:spPr>
          <a:xfrm>
            <a:off x="45720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783080" y="146304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Cloner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" y="1792224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8" name="Text 16"/>
          <p:cNvSpPr/>
          <p:nvPr/>
        </p:nvSpPr>
        <p:spPr>
          <a:xfrm>
            <a:off x="457200" y="1792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783080" y="179222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Configurer nom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91840" y="804672"/>
            <a:ext cx="2788920" cy="1965960"/>
          </a:xfrm>
          <a:prstGeom prst="rect">
            <a:avLst/>
          </a:prstGeom>
          <a:solidFill>
            <a:srgbClr val="E8E2DC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1" name="Shape 19"/>
          <p:cNvSpPr/>
          <p:nvPr/>
        </p:nvSpPr>
        <p:spPr>
          <a:xfrm>
            <a:off x="3291840" y="804672"/>
            <a:ext cx="2788920" cy="2926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2" name="Text 20"/>
          <p:cNvSpPr/>
          <p:nvPr/>
        </p:nvSpPr>
        <p:spPr>
          <a:xfrm>
            <a:off x="3364992" y="804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Staging &amp; Commit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1133856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4" name="Text 22"/>
          <p:cNvSpPr/>
          <p:nvPr/>
        </p:nvSpPr>
        <p:spPr>
          <a:xfrm>
            <a:off x="3383280" y="1133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-s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09160" y="11338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État court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337560" y="1463040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27" name="Text 25"/>
          <p:cNvSpPr/>
          <p:nvPr/>
        </p:nvSpPr>
        <p:spPr>
          <a:xfrm>
            <a:off x="338328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09160" y="146304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Tout stager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37560" y="1792224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0" name="Text 28"/>
          <p:cNvSpPr/>
          <p:nvPr/>
        </p:nvSpPr>
        <p:spPr>
          <a:xfrm>
            <a:off x="3383280" y="1792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09160" y="179222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Committer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337560" y="2121408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3" name="Text 31"/>
          <p:cNvSpPr/>
          <p:nvPr/>
        </p:nvSpPr>
        <p:spPr>
          <a:xfrm>
            <a:off x="3383280" y="21214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--amend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09160" y="21214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Modifier dernier commit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337560" y="2450592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6" name="Text 34"/>
          <p:cNvSpPr/>
          <p:nvPr/>
        </p:nvSpPr>
        <p:spPr>
          <a:xfrm>
            <a:off x="3383280" y="2450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-p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09160" y="245059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Ajout interactif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217920" y="804672"/>
            <a:ext cx="2788920" cy="1965960"/>
          </a:xfrm>
          <a:prstGeom prst="rect">
            <a:avLst/>
          </a:prstGeom>
          <a:solidFill>
            <a:srgbClr val="E8E2DC"/>
          </a:solidFill>
          <a:ln w="12700">
            <a:solidFill>
              <a:srgbClr val="7B4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9" name="Shape 37"/>
          <p:cNvSpPr/>
          <p:nvPr/>
        </p:nvSpPr>
        <p:spPr>
          <a:xfrm>
            <a:off x="6217920" y="804672"/>
            <a:ext cx="2788920" cy="292608"/>
          </a:xfrm>
          <a:prstGeom prst="rect">
            <a:avLst/>
          </a:prstGeom>
          <a:solidFill>
            <a:srgbClr val="7B4EA6"/>
          </a:solidFill>
          <a:ln w="12700">
            <a:solidFill>
              <a:srgbClr val="7B4EA6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0" name="Text 38"/>
          <p:cNvSpPr/>
          <p:nvPr/>
        </p:nvSpPr>
        <p:spPr>
          <a:xfrm>
            <a:off x="6291072" y="804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Branches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1133856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2" name="Text 40"/>
          <p:cNvSpPr/>
          <p:nvPr/>
        </p:nvSpPr>
        <p:spPr>
          <a:xfrm>
            <a:off x="6309360" y="1133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B4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635240" y="11338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Lister toutes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263640" y="1463040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5" name="Text 43"/>
          <p:cNvSpPr/>
          <p:nvPr/>
        </p:nvSpPr>
        <p:spPr>
          <a:xfrm>
            <a:off x="630936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B4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&lt;nom&gt;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635240" y="146304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Créer+basculer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263640" y="1792224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48" name="Text 46"/>
          <p:cNvSpPr/>
          <p:nvPr/>
        </p:nvSpPr>
        <p:spPr>
          <a:xfrm>
            <a:off x="6309360" y="1792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B4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&lt;branche&gt;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635240" y="179222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Fusionner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263640" y="2121408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1" name="Text 49"/>
          <p:cNvSpPr/>
          <p:nvPr/>
        </p:nvSpPr>
        <p:spPr>
          <a:xfrm>
            <a:off x="6309360" y="21214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B4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635240" y="21214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Rebaser sur main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263640" y="2450592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4" name="Text 52"/>
          <p:cNvSpPr/>
          <p:nvPr/>
        </p:nvSpPr>
        <p:spPr>
          <a:xfrm>
            <a:off x="6309360" y="2450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B4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&lt;nom&gt;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635240" y="245059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Supprimer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65760" y="2907792"/>
            <a:ext cx="2788920" cy="1965960"/>
          </a:xfrm>
          <a:prstGeom prst="rect">
            <a:avLst/>
          </a:prstGeom>
          <a:solidFill>
            <a:srgbClr val="E8E2DC"/>
          </a:solidFill>
          <a:ln w="12700">
            <a:solidFill>
              <a:srgbClr val="C8971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57" name="Shape 55"/>
          <p:cNvSpPr/>
          <p:nvPr/>
        </p:nvSpPr>
        <p:spPr>
          <a:xfrm>
            <a:off x="365760" y="2907792"/>
            <a:ext cx="2788920" cy="292608"/>
          </a:xfrm>
          <a:prstGeom prst="rect">
            <a:avLst/>
          </a:prstGeom>
          <a:solidFill>
            <a:srgbClr val="C8971A"/>
          </a:solidFill>
          <a:ln w="12700">
            <a:solidFill>
              <a:srgbClr val="C8971A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58" name="Text 56"/>
          <p:cNvSpPr/>
          <p:nvPr/>
        </p:nvSpPr>
        <p:spPr>
          <a:xfrm>
            <a:off x="438912" y="29077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Historique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11480" y="3236976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0" name="Text 58"/>
          <p:cNvSpPr/>
          <p:nvPr/>
        </p:nvSpPr>
        <p:spPr>
          <a:xfrm>
            <a:off x="457200" y="32369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783080" y="32369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Graphe compact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11480" y="3566160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3" name="Text 61"/>
          <p:cNvSpPr/>
          <p:nvPr/>
        </p:nvSpPr>
        <p:spPr>
          <a:xfrm>
            <a:off x="457200" y="3566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783080" y="35661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Voir staging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11480" y="3895344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6" name="Text 64"/>
          <p:cNvSpPr/>
          <p:nvPr/>
        </p:nvSpPr>
        <p:spPr>
          <a:xfrm>
            <a:off x="457200" y="3895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&lt;hash&gt;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783080" y="389534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Détails commit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11480" y="4224528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9" name="Text 67"/>
          <p:cNvSpPr/>
          <p:nvPr/>
        </p:nvSpPr>
        <p:spPr>
          <a:xfrm>
            <a:off x="457200" y="4224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blame &lt;fichier&gt;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783080" y="422452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Voir auteur par ligne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11480" y="4553712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2" name="Text 70"/>
          <p:cNvSpPr/>
          <p:nvPr/>
        </p:nvSpPr>
        <p:spPr>
          <a:xfrm>
            <a:off x="457200" y="45537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89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reflog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783080" y="45537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Historique actions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291840" y="2907792"/>
            <a:ext cx="2788920" cy="1965960"/>
          </a:xfrm>
          <a:prstGeom prst="rect">
            <a:avLst/>
          </a:prstGeom>
          <a:solidFill>
            <a:srgbClr val="E8E2DC"/>
          </a:solidFill>
          <a:ln w="12700">
            <a:solidFill>
              <a:srgbClr val="CC3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75" name="Shape 73"/>
          <p:cNvSpPr/>
          <p:nvPr/>
        </p:nvSpPr>
        <p:spPr>
          <a:xfrm>
            <a:off x="3291840" y="2907792"/>
            <a:ext cx="2788920" cy="29260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6" name="Text 74"/>
          <p:cNvSpPr/>
          <p:nvPr/>
        </p:nvSpPr>
        <p:spPr>
          <a:xfrm>
            <a:off x="3364992" y="29077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Annuler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337560" y="3236976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78" name="Text 76"/>
          <p:cNvSpPr/>
          <p:nvPr/>
        </p:nvSpPr>
        <p:spPr>
          <a:xfrm>
            <a:off x="3383280" y="32369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&lt;f&gt;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709160" y="32369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Annuler modifs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337560" y="3566160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1" name="Text 79"/>
          <p:cNvSpPr/>
          <p:nvPr/>
        </p:nvSpPr>
        <p:spPr>
          <a:xfrm>
            <a:off x="3383280" y="3566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--soft HEAD~1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4709160" y="35661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Défaire commit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337560" y="3895344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4" name="Text 82"/>
          <p:cNvSpPr/>
          <p:nvPr/>
        </p:nvSpPr>
        <p:spPr>
          <a:xfrm>
            <a:off x="3383280" y="3895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&lt;hash&gt;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4709160" y="389534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Inverser commit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337560" y="4224528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87" name="Text 85"/>
          <p:cNvSpPr/>
          <p:nvPr/>
        </p:nvSpPr>
        <p:spPr>
          <a:xfrm>
            <a:off x="3383280" y="4224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709160" y="422452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Mettre de côté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3337560" y="4553712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0" name="Text 88"/>
          <p:cNvSpPr/>
          <p:nvPr/>
        </p:nvSpPr>
        <p:spPr>
          <a:xfrm>
            <a:off x="3383280" y="45537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&lt;h&gt;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4709160" y="45537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Appliquer un commit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217920" y="2907792"/>
            <a:ext cx="2788920" cy="1965960"/>
          </a:xfrm>
          <a:prstGeom prst="rect">
            <a:avLst/>
          </a:prstGeom>
          <a:solidFill>
            <a:srgbClr val="E8E2DC"/>
          </a:solidFill>
          <a:ln w="1270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93" name="Shape 91"/>
          <p:cNvSpPr/>
          <p:nvPr/>
        </p:nvSpPr>
        <p:spPr>
          <a:xfrm>
            <a:off x="6217920" y="2907792"/>
            <a:ext cx="2788920" cy="292608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4" name="Text 92"/>
          <p:cNvSpPr/>
          <p:nvPr/>
        </p:nvSpPr>
        <p:spPr>
          <a:xfrm>
            <a:off x="6291072" y="29077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B"/>
                </a:solidFill>
              </a:rPr>
              <a:t>Remote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6263640" y="3236976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6" name="Text 94"/>
          <p:cNvSpPr/>
          <p:nvPr/>
        </p:nvSpPr>
        <p:spPr>
          <a:xfrm>
            <a:off x="6309360" y="32369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7635240" y="32369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Pousser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6263640" y="3566160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99" name="Text 97"/>
          <p:cNvSpPr/>
          <p:nvPr/>
        </p:nvSpPr>
        <p:spPr>
          <a:xfrm>
            <a:off x="6309360" y="3566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--rebase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7635240" y="35661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Tirer+rebaser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263640" y="3895344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2" name="Text 100"/>
          <p:cNvSpPr/>
          <p:nvPr/>
        </p:nvSpPr>
        <p:spPr>
          <a:xfrm>
            <a:off x="6309360" y="3895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--all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7635240" y="389534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Récupérer tout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6263640" y="4224528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5" name="Text 103"/>
          <p:cNvSpPr/>
          <p:nvPr/>
        </p:nvSpPr>
        <p:spPr>
          <a:xfrm>
            <a:off x="6309360" y="4224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7635240" y="422452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Lister remotes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263640" y="4553712"/>
            <a:ext cx="2697480" cy="292608"/>
          </a:xfrm>
          <a:prstGeom prst="rect">
            <a:avLst/>
          </a:prstGeom>
          <a:solidFill>
            <a:srgbClr val="EDE8E2"/>
          </a:solidFill>
          <a:ln w="12700">
            <a:solidFill>
              <a:srgbClr val="EDE8E2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108" name="Text 106"/>
          <p:cNvSpPr/>
          <p:nvPr/>
        </p:nvSpPr>
        <p:spPr>
          <a:xfrm>
            <a:off x="6309360" y="45537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-a v1.0 -m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7635240" y="45537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Créer tag annoté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D2C00"/>
          </a:solidFill>
          <a:ln w="12700">
            <a:solidFill>
              <a:srgbClr val="BD2C00"/>
            </a:solidFill>
            <a:prstDash val="solid"/>
          </a:ln>
        </p:spPr>
        <p:txBody>
          <a:bodyPr/>
          <a:lstStyle/>
          <a:p>
            <a:endParaRPr lang="fr-MR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3333"/>
                </a:solidFill>
              </a:rPr>
              <a:t>Vous maîtrisez maintenant Git !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251960" cy="594360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2C00"/>
                </a:solidFill>
              </a:rPr>
              <a:t>Architecture &amp; 3 zones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130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Working Dir → Staging → Repository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37760" y="1828800"/>
            <a:ext cx="4251960" cy="594360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⌨️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2C00"/>
                </a:solidFill>
              </a:rPr>
              <a:t>Commandes complètes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2130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init, add, commit, diff, log, reset, revert, amend…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32888"/>
            <a:ext cx="4251960" cy="594360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16" name="Text 14"/>
          <p:cNvSpPr/>
          <p:nvPr/>
        </p:nvSpPr>
        <p:spPr>
          <a:xfrm>
            <a:off x="548640" y="2532888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578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2C00"/>
                </a:solidFill>
              </a:rPr>
              <a:t>Branches avancées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Créer, fusionner, rebaser, cherry-pick, résoudre conflits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0" y="2532888"/>
            <a:ext cx="4251960" cy="594360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0" name="Text 18"/>
          <p:cNvSpPr/>
          <p:nvPr/>
        </p:nvSpPr>
        <p:spPr>
          <a:xfrm>
            <a:off x="5029200" y="2532888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🗃️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2578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2C00"/>
                </a:solidFill>
              </a:rPr>
              <a:t>Stash &amp; Tags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068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Mise en suspens, versionnage SemVer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236976"/>
            <a:ext cx="4251960" cy="594360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4" name="Text 22"/>
          <p:cNvSpPr/>
          <p:nvPr/>
        </p:nvSpPr>
        <p:spPr>
          <a:xfrm>
            <a:off x="548640" y="3236976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2C00"/>
                </a:solidFill>
              </a:rPr>
              <a:t>Remote &amp; Collaboration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GitHub, push/pull, PR, forks, code review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37760" y="3236976"/>
            <a:ext cx="4251960" cy="594360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28" name="Text 26"/>
          <p:cNvSpPr/>
          <p:nvPr/>
        </p:nvSpPr>
        <p:spPr>
          <a:xfrm>
            <a:off x="5029200" y="3236976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2C00"/>
                </a:solidFill>
              </a:rPr>
              <a:t>Workflows Pro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GitFlow, GitHub Flow, Trunk-Based Development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941064"/>
            <a:ext cx="4251960" cy="594360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2" name="Text 30"/>
          <p:cNvSpPr/>
          <p:nvPr/>
        </p:nvSpPr>
        <p:spPr>
          <a:xfrm>
            <a:off x="548640" y="3941064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🪝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2C00"/>
                </a:solidFill>
              </a:rPr>
              <a:t>Hooks &amp; Automatisation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4242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pre-commit, Husky, Conventional Commits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37760" y="3941064"/>
            <a:ext cx="4251960" cy="594360"/>
          </a:xfrm>
          <a:prstGeom prst="rect">
            <a:avLst/>
          </a:prstGeom>
          <a:solidFill>
            <a:srgbClr val="E8E2DC"/>
          </a:solidFill>
          <a:ln w="6350">
            <a:solidFill>
              <a:srgbClr val="BD2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MR"/>
          </a:p>
        </p:txBody>
      </p:sp>
      <p:sp>
        <p:nvSpPr>
          <p:cNvPr id="36" name="Text 34"/>
          <p:cNvSpPr/>
          <p:nvPr/>
        </p:nvSpPr>
        <p:spPr>
          <a:xfrm>
            <a:off x="5029200" y="3941064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0680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2C00"/>
                </a:solidFill>
              </a:rPr>
              <a:t>Bonnes Pratiques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40680" y="4242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Sécurité, messages, productivité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D2C00"/>
                </a:solidFill>
              </a:rPr>
              <a:t>"Le code qui n'est pas versionné est du code perdu."</a:t>
            </a:r>
            <a:endParaRPr lang="en-US" sz="1300" dirty="0"/>
          </a:p>
        </p:txBody>
      </p:sp>
      <p:pic>
        <p:nvPicPr>
          <p:cNvPr id="2050" name="Picture 2" descr="Git - Logo Downloads">
            <a:extLst>
              <a:ext uri="{FF2B5EF4-FFF2-40B4-BE49-F238E27FC236}">
                <a16:creationId xmlns:a16="http://schemas.microsoft.com/office/drawing/2014/main" id="{CCB10E44-A38C-FCEF-457B-2B4C8DA1B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936" y="224028"/>
            <a:ext cx="1524000" cy="105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4564</Words>
  <Application>Microsoft Office PowerPoint</Application>
  <PresentationFormat>Affichage à l'écran (16:9)</PresentationFormat>
  <Paragraphs>857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— Formation Complète &amp; Approfondie</dc:title>
  <dc:subject>PptxGenJS Presentation</dc:subject>
  <dc:creator>PptxGenJS</dc:creator>
  <cp:lastModifiedBy>Salou Diallo</cp:lastModifiedBy>
  <cp:revision>4</cp:revision>
  <dcterms:created xsi:type="dcterms:W3CDTF">2026-03-11T15:52:47Z</dcterms:created>
  <dcterms:modified xsi:type="dcterms:W3CDTF">2026-03-12T23:54:15Z</dcterms:modified>
</cp:coreProperties>
</file>